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guo" initials="c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固定候选池 + Once（static）</a:t>
            </a:r>
          </a:p>
          <a:p/>
          <a:p>
            <a:r>
              <a:t>参考：/home/chguo/work/once_per_layer_concept.pptx，第3页。</a:t>
            </a:r>
          </a:p>
          <a:p>
            <a:r>
              <a:t>沿用左右第L层/第L+1层、NPU到SSU折线、Path队列方块的表达。</a:t>
            </a:r>
          </a:p>
          <a:p>
            <a:r>
              <a:t>本页为说明机制的示意图，IO队列长度与箭头不是实测日志；只画部分Path和部分I/O。</a:t>
            </a:r>
          </a:p>
          <a:p>
            <a:r>
              <a:t>实验实际配置：32 NPU、3 SSU，每盘40 GiB/s；图中仅示意两张NPU与一块SSU，其他盘同理。</a:t>
            </a:r>
          </a:p>
          <a:p/>
          <a:p>
            <a:r>
              <a:t>1. 新增的动作：上层使用本请求初始画像，决定候选Path范围。</a:t>
            </a:r>
          </a:p>
          <a:p>
            <a:r>
              <a:t>C为每层纯计算时间。8层请求的纯计算时间为8C，实验SLO预算为1.5×8C，初始等待预算为4C。</a:t>
            </a:r>
          </a:p>
          <a:p>
            <a:r>
              <a:t>均摊每层初始等待余量=(1.5×8C−8C)/8=C/2。</a:t>
            </a:r>
          </a:p>
          <a:p>
            <a:r>
              <a:t>通用收窄条件：C/2 &gt; max(6ms, 本层独占读取下界)。6ms是当前实验启发式参数。</a:t>
            </a:r>
          </a:p>
          <a:p>
            <a:r>
              <a:t>本次24画像的独占读取下界均小于6ms，所以本批数据可以简化为C&gt;12ms；不是C&gt;6ms，也不是通用阈值。</a:t>
            </a:r>
          </a:p>
          <a:p>
            <a:r>
              <a:t>独占读取下界(ms)=1000×max(max_d(V_d/40),sum_d(V_d)/50)，V_d单位GiB。</a:t>
            </a:r>
          </a:p>
          <a:p>
            <a:r>
              <a:t>它只是假设无他人竞争时的乐观物理下界，不代表实际独占，也不是实际完成时间预测。</a:t>
            </a:r>
          </a:p>
          <a:p>
            <a:r>
              <a:t>static每层沿用初始预算，不随截止临近而恢复全池；不能理解为动态判断实际紧急程度。</a:t>
            </a:r>
          </a:p>
          <a:p/>
          <a:p>
            <a:r>
              <a:t>2. 原类别池与固定池。</a:t>
            </a:r>
          </a:p>
          <a:p>
            <a:r>
              <a:t>每盘256条Path，8个硬件组，每组32条。组内SS/SL/LS/LL各12/4/12/4条。</a:t>
            </a:r>
          </a:p>
          <a:p>
            <a:r>
              <a:t>原类别全池分别96/32/96/32条。固定池从每组取该类别的第一条，合计8条。</a:t>
            </a:r>
          </a:p>
          <a:p>
            <a:r>
              <a:t>本页特意使用两个同属SL的真实data画像，避免把新增策略误认为原SS/SL分类。</a:t>
            </a:r>
          </a:p>
          <a:p>
            <a:r>
              <a:t>SL每盘32条候选Path；固定8条的全局ID为12,44,76,108,140,172,204,236。</a:t>
            </a:r>
          </a:p>
          <a:p>
            <a:r>
              <a:t>图中橙色Path12和Path44均为固定池成员，白色Path13是其余24条中的一条。</a:t>
            </a:r>
          </a:p>
          <a:p>
            <a:r>
              <a:t>NPU0：总长32K，miss1024，每层计算7.257231579079756ms，保留全池32条。</a:t>
            </a:r>
          </a:p>
          <a:p>
            <a:r>
              <a:t>NPU1：总长32K，miss4096，每层计算28.592841995880782ms，收窄为8条。</a:t>
            </a:r>
          </a:p>
          <a:p>
            <a:r>
              <a:t>数据来自../input_profile_summary.csv；总长包含miss部分，不额外相加。</a:t>
            </a:r>
          </a:p>
          <a:p>
            <a:r>
              <a:t>所有同盘同类收窄请求共用同一组8条，不是每NPU各自独享8条，也不是全系统总共只有8条。</a:t>
            </a:r>
          </a:p>
          <a:p>
            <a:r>
              <a:t>其余24条没有关闭、没有改CIR/PIR，已有IO正常服务，其他同类全池请求仍可使用。</a:t>
            </a:r>
          </a:p>
          <a:p/>
          <a:p>
            <a:r>
              <a:t>3. 原Once部分保持。</a:t>
            </a:r>
          </a:p>
          <a:p>
            <a:r>
              <a:t>盘侧每5ms采样的Path拥塞计数与已知QoS配置，输入原Once预计完成时间计算。</a:t>
            </a:r>
          </a:p>
          <a:p>
            <a:r>
              <a:t>每个请求/层/SSU调用一次规划；调用内部逐IO块选路，并更新本地影子计数。一层可以跨多条Path。</a:t>
            </a:r>
          </a:p>
          <a:p>
            <a:r>
              <a:t>图中蓝色实线为全池请求，能选择橙底或白底Path；橙色虚线为收窄请求，只能选择橙底Path。</a:t>
            </a:r>
          </a:p>
          <a:p>
            <a:r>
              <a:t>第L+1层候选范围不变，但队列变化，选择的具体Path可以变化。</a:t>
            </a:r>
          </a:p>
          <a:p>
            <a:r>
              <a:t>上层决定候选池，盘侧提供周期拥塞快照；Path内的已提交IO继续FIFO。</a:t>
            </a:r>
          </a:p>
          <a:p>
            <a:r>
              <a:t>未接纳的跨请求首层预取没有接纳时钟预算，使用原Once全池；本页主体画已接纳请求。</a:t>
            </a:r>
          </a:p>
          <a:p/>
          <a:p>
            <a:r>
              <a:t>4. 为什么可能改善SLO，以及边界。</a:t>
            </a:r>
          </a:p>
          <a:p>
            <a:r>
              <a:t>把初始等待余量较大的请求集中到较少的加权Path，可能让其他请求获得更多服务机会。</a:t>
            </a:r>
          </a:p>
          <a:p>
            <a:r>
              <a:t>本策略没有改变请求顺序，没有改FIFO，没有改变CIR/PIR，没有固定预留带宽，也不保证实际供给b_i达到需求B_i=V_i/C_i。</a:t>
            </a:r>
          </a:p>
          <a:p>
            <a:r>
              <a:t>候选池限制只是启发式服务机会调整，不保证每个请求TTFT达标，也不保证所有类别或NPU利用率都上升。</a:t>
            </a:r>
          </a:p>
          <a:p>
            <a:r>
              <a:t>实验主要SLO为“接纳到prefill完成 &lt;=1.5×纯计算时间”，不包含接纳前排队，也没有实际首token事件。</a:t>
            </a:r>
          </a:p>
          <a:p>
            <a:r>
              <a:t>已完成的持续过载3种子warm均值：baseline SLO40.30%，static76.96%；LL类别反而95.08%降至27.17%。</a:t>
            </a:r>
          </a:p>
          <a:p>
            <a:r>
              <a:t>因此“改善整体SLO”是目标与本次总体结果，不能表述成兼顾所有请求的无代价保证。</a:t>
            </a:r>
          </a:p>
          <a:p/>
          <a:p>
            <a:r>
              <a:t>实现核对：../policy.py中的upper_budget、choose_path_pool、install_policy。</a:t>
            </a:r>
          </a:p>
          <a:p>
            <a:r>
              <a:t>实验口径：../METHOD.md。数据与结果：../input_profile_summary.csv、../README.md。</a:t>
            </a:r>
          </a:p>
          <a:p/>
          <a:p/>
          <a:p>
            <a:r>
              <a:t>本版补充Baseline Random、原始Once per layer、固定候选池+Once三组正式实测，仍只有1页。</a:t>
            </a:r>
          </a:p>
          <a:p>
            <a:r>
              <a:t>数据来源：../macro_summary.csv（baseline/static）和../once_control_macro_summary.csv（once），window=warm_2_4s，三个种子7/19/43等权平均。</a:t>
            </a:r>
          </a:p>
          <a:p>
            <a:r>
              <a:t>新版正文为避免拥挤只画一块SSU，实验本身仍是32NPU、3SSU。图中队列长度和箭头仅解释机制，并非日志采样。</a:t>
            </a:r>
          </a:p>
          <a:p>
            <a:r>
              <a:t>NPU利用率：warm [2,4)内实际计算卡时间/(32×2秒)。SLO样本：在该窗口接纳的全部请求，跟踪至最后完成，包括窗口结束后才完成的请求。</a:t>
            </a:r>
          </a:p>
          <a:p>
            <a:r>
              <a:t>每个种子先计算比例，再三个种子等权平均；三策略使用按种子完全相同的完整输入与卡内请求顺序；warm窗口接纳请求集合可能不同。</a:t>
            </a:r>
          </a:p>
          <a:p>
            <a:r>
              <a:t>本次的TTFT标签沿用实验叫法，实质为接纳至prefill完成，不是从外部到达至真实首token。</a:t>
            </a:r>
          </a:p>
          <a:p>
            <a:r>
              <a:t>原始Once对每个请求始终在原类别完整合法候选池内，按最近5ms拥塞快照逐块规划本层I/O；没有新增的8条候选池限制。固定候选池+Once仅先缩小部分已接纳请求的候选范围，池内规划引擎仍是同一个Once。Baseline全部I/O使用Path0。三者都不重排Path内部FIFO、不写CIR/PIR。</a:t>
            </a:r>
          </a:p>
          <a:p>
            <a:r>
              <a:t>机制主图解释固定候选池+Once；原始Once的同类请求均可选择橙底与白底Path。橙底不是专用带宽、不是请求独享。</a:t>
            </a:r>
          </a:p>
          <a:p>
            <a:r>
              <a:t>semi/baseline: U=99.24275567281494%, SLO=96.27054975026563%</a:t>
            </a:r>
          </a:p>
          <a:p>
            <a:r>
              <a:t>semi/once: U=99.28367991649814%, SLO=99.80952380952381%</a:t>
            </a:r>
          </a:p>
          <a:p>
            <a:r>
              <a:t>semi/static: U=99.17894275942051%, SLO=100.0%</a:t>
            </a:r>
          </a:p>
          <a:p>
            <a:r>
              <a:t>full/baseline: U=62.384978288533524%, SLO=40.29543087150066%</a:t>
            </a:r>
          </a:p>
          <a:p>
            <a:r>
              <a:t>full/once: U=64.44074650169942%, SLO=76.13026819923373%</a:t>
            </a:r>
          </a:p>
          <a:p>
            <a:r>
              <a:t>full/static: U=64.37497609874124%, SLO=76.96425995927727%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固定候选池 + Once：先限定范围，再按层选路"/>
          <p:cNvSpPr txBox="1"/>
          <p:nvPr/>
        </p:nvSpPr>
        <p:spPr>
          <a:xfrm>
            <a:off x="438912" y="210312"/>
            <a:ext cx="1376172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固定候选池 + Once：先限定范围，再按层选路</a:t>
            </a:r>
          </a:p>
        </p:txBody>
      </p:sp>
      <p:sp>
        <p:nvSpPr>
          <p:cNvPr id="3" name="本次24种画像的已接纳请求：每层计算 C &gt; 12 ms → 固定8条/盘；否则 → 原类别全池"/>
          <p:cNvSpPr txBox="1"/>
          <p:nvPr/>
        </p:nvSpPr>
        <p:spPr>
          <a:xfrm>
            <a:off x="530352" y="960120"/>
            <a:ext cx="13716000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本次24种画像的已接纳请求：每层计算 C &gt; 12 ms → 固定8条/盘；否则 → 原类别全池。</a:t>
            </a:r>
          </a:p>
        </p:txBody>
      </p:sp>
      <p:sp>
        <p:nvSpPr>
          <p:cNvPr id="4" name="初始每层等待余量 = C / 2。橙底8条由同盘同类的收窄请求共享；其余Path仍供全池请求使用"/>
          <p:cNvSpPr txBox="1"/>
          <p:nvPr/>
        </p:nvSpPr>
        <p:spPr>
          <a:xfrm>
            <a:off x="530352" y="1344168"/>
            <a:ext cx="137160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初始每层等待余量 = C / 2。橙底8条由同盘同类的收窄请求共享；其余Path仍供全池请求使用。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06056" y="1691640"/>
            <a:ext cx="0" cy="3081528"/>
          </a:xfrm>
          <a:prstGeom prst="line">
            <a:avLst/>
          </a:prstGeom>
          <a:ln w="825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第 L 层"/>
          <p:cNvSpPr txBox="1"/>
          <p:nvPr/>
        </p:nvSpPr>
        <p:spPr>
          <a:xfrm>
            <a:off x="640080" y="1700784"/>
            <a:ext cx="21031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第 L 层</a:t>
            </a:r>
          </a:p>
        </p:txBody>
      </p:sp>
      <p:sp>
        <p:nvSpPr>
          <p:cNvPr id="7" name="同一块SSU；候选池不变，选路可变"/>
          <p:cNvSpPr txBox="1"/>
          <p:nvPr/>
        </p:nvSpPr>
        <p:spPr>
          <a:xfrm>
            <a:off x="3063240" y="1755648"/>
            <a:ext cx="370332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同一块SSU；候选池不变，选路可变</a:t>
            </a:r>
          </a:p>
        </p:txBody>
      </p:sp>
      <p:sp>
        <p:nvSpPr>
          <p:cNvPr id="8" name="panel_0.0_SSU0"/>
          <p:cNvSpPr/>
          <p:nvPr/>
        </p:nvSpPr>
        <p:spPr>
          <a:xfrm>
            <a:off x="3840480" y="2221992"/>
            <a:ext cx="2926080" cy="2267712"/>
          </a:xfrm>
          <a:prstGeom prst="rect">
            <a:avLst/>
          </a:prstGeom>
          <a:solidFill>
            <a:srgbClr val="FFFFFF"/>
          </a:solidFill>
          <a:ln w="825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SU0"/>
          <p:cNvSpPr txBox="1"/>
          <p:nvPr/>
        </p:nvSpPr>
        <p:spPr>
          <a:xfrm>
            <a:off x="3986784" y="2295144"/>
            <a:ext cx="10058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SSU0</a:t>
            </a:r>
          </a:p>
        </p:txBody>
      </p:sp>
      <p:sp>
        <p:nvSpPr>
          <p:cNvPr id="10" name="SL 类：32 条 Path（仅画 3 条）"/>
          <p:cNvSpPr txBox="1"/>
          <p:nvPr/>
        </p:nvSpPr>
        <p:spPr>
          <a:xfrm>
            <a:off x="3986784" y="2633472"/>
            <a:ext cx="265176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SL 类：32 条 Path（仅画 3 条）</a:t>
            </a:r>
          </a:p>
        </p:txBody>
      </p:sp>
      <p:sp>
        <p:nvSpPr>
          <p:cNvPr id="11" name="panel_0.0_ssu_0_path_12_candidate_True"/>
          <p:cNvSpPr/>
          <p:nvPr/>
        </p:nvSpPr>
        <p:spPr>
          <a:xfrm>
            <a:off x="3959352" y="2971800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th12"/>
          <p:cNvSpPr txBox="1"/>
          <p:nvPr/>
        </p:nvSpPr>
        <p:spPr>
          <a:xfrm>
            <a:off x="4087368" y="2985516"/>
            <a:ext cx="886968" cy="356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Path12</a:t>
            </a:r>
          </a:p>
        </p:txBody>
      </p:sp>
      <p:sp>
        <p:nvSpPr>
          <p:cNvPr id="13" name="box_12"/>
          <p:cNvSpPr/>
          <p:nvPr/>
        </p:nvSpPr>
        <p:spPr>
          <a:xfrm>
            <a:off x="4992624" y="303123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O"/>
          <p:cNvSpPr txBox="1"/>
          <p:nvPr/>
        </p:nvSpPr>
        <p:spPr>
          <a:xfrm>
            <a:off x="4992624" y="3031236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15" name="box_14"/>
          <p:cNvSpPr/>
          <p:nvPr/>
        </p:nvSpPr>
        <p:spPr>
          <a:xfrm>
            <a:off x="5349240" y="303123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O"/>
          <p:cNvSpPr txBox="1"/>
          <p:nvPr/>
        </p:nvSpPr>
        <p:spPr>
          <a:xfrm>
            <a:off x="5349240" y="3031236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17" name="box_16"/>
          <p:cNvSpPr/>
          <p:nvPr/>
        </p:nvSpPr>
        <p:spPr>
          <a:xfrm>
            <a:off x="5705856" y="303123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O"/>
          <p:cNvSpPr txBox="1"/>
          <p:nvPr/>
        </p:nvSpPr>
        <p:spPr>
          <a:xfrm>
            <a:off x="5705856" y="3031236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19" name="box_18"/>
          <p:cNvSpPr/>
          <p:nvPr/>
        </p:nvSpPr>
        <p:spPr>
          <a:xfrm>
            <a:off x="6062472" y="303123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O"/>
          <p:cNvSpPr txBox="1"/>
          <p:nvPr/>
        </p:nvSpPr>
        <p:spPr>
          <a:xfrm>
            <a:off x="6062472" y="3031236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21" name="panel_0.0_ssu_0_path_13_candidate_False"/>
          <p:cNvSpPr/>
          <p:nvPr/>
        </p:nvSpPr>
        <p:spPr>
          <a:xfrm>
            <a:off x="3959352" y="3419856"/>
            <a:ext cx="2688336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th13"/>
          <p:cNvSpPr txBox="1"/>
          <p:nvPr/>
        </p:nvSpPr>
        <p:spPr>
          <a:xfrm>
            <a:off x="4087368" y="3433572"/>
            <a:ext cx="886968" cy="356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Path13</a:t>
            </a:r>
          </a:p>
        </p:txBody>
      </p:sp>
      <p:sp>
        <p:nvSpPr>
          <p:cNvPr id="23" name="box_22"/>
          <p:cNvSpPr/>
          <p:nvPr/>
        </p:nvSpPr>
        <p:spPr>
          <a:xfrm>
            <a:off x="4992624" y="3479292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O"/>
          <p:cNvSpPr txBox="1"/>
          <p:nvPr/>
        </p:nvSpPr>
        <p:spPr>
          <a:xfrm>
            <a:off x="4992624" y="3479292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25" name="panel_0.0_ssu_0_path_44_candidate_True"/>
          <p:cNvSpPr/>
          <p:nvPr/>
        </p:nvSpPr>
        <p:spPr>
          <a:xfrm>
            <a:off x="3959352" y="3867912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th44"/>
          <p:cNvSpPr txBox="1"/>
          <p:nvPr/>
        </p:nvSpPr>
        <p:spPr>
          <a:xfrm>
            <a:off x="4087368" y="3881628"/>
            <a:ext cx="886968" cy="356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Path44</a:t>
            </a:r>
          </a:p>
        </p:txBody>
      </p:sp>
      <p:sp>
        <p:nvSpPr>
          <p:cNvPr id="27" name="box_26"/>
          <p:cNvSpPr/>
          <p:nvPr/>
        </p:nvSpPr>
        <p:spPr>
          <a:xfrm>
            <a:off x="4992624" y="39273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O"/>
          <p:cNvSpPr txBox="1"/>
          <p:nvPr/>
        </p:nvSpPr>
        <p:spPr>
          <a:xfrm>
            <a:off x="4992624" y="3927348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29" name="box_28"/>
          <p:cNvSpPr/>
          <p:nvPr/>
        </p:nvSpPr>
        <p:spPr>
          <a:xfrm>
            <a:off x="5349240" y="39273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O"/>
          <p:cNvSpPr txBox="1"/>
          <p:nvPr/>
        </p:nvSpPr>
        <p:spPr>
          <a:xfrm>
            <a:off x="5349240" y="3927348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31" name="每盘独立选路 · Path 内部 FIFO"/>
          <p:cNvSpPr txBox="1"/>
          <p:nvPr/>
        </p:nvSpPr>
        <p:spPr>
          <a:xfrm>
            <a:off x="3986784" y="4311396"/>
            <a:ext cx="265176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每盘独立选路 · Path 内部 FIFO</a:t>
            </a:r>
          </a:p>
        </p:txBody>
      </p:sp>
      <p:sp>
        <p:nvSpPr>
          <p:cNvPr id="32" name="box_31"/>
          <p:cNvSpPr/>
          <p:nvPr/>
        </p:nvSpPr>
        <p:spPr>
          <a:xfrm>
            <a:off x="694944" y="2395728"/>
            <a:ext cx="1472184" cy="530352"/>
          </a:xfrm>
          <a:prstGeom prst="rect">
            <a:avLst/>
          </a:prstGeom>
          <a:solidFill>
            <a:srgbClr val="FFFFFF"/>
          </a:solidFill>
          <a:ln w="10795">
            <a:solidFill>
              <a:srgbClr val="35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PU0"/>
          <p:cNvSpPr txBox="1"/>
          <p:nvPr/>
        </p:nvSpPr>
        <p:spPr>
          <a:xfrm>
            <a:off x="694944" y="2395728"/>
            <a:ext cx="1472184" cy="5303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569A4"/>
                </a:solidFill>
                <a:latin typeface="Noto Sans CJK SC"/>
                <a:ea typeface="Noto Sans CJK SC"/>
                <a:cs typeface="Noto Sans CJK SC"/>
              </a:rPr>
              <a:t>NPU0</a:t>
            </a:r>
          </a:p>
        </p:txBody>
      </p:sp>
      <p:sp>
        <p:nvSpPr>
          <p:cNvPr id="34" name="SL · 32K/miss1K · C=7.26ms"/>
          <p:cNvSpPr txBox="1"/>
          <p:nvPr/>
        </p:nvSpPr>
        <p:spPr>
          <a:xfrm>
            <a:off x="310896" y="3026664"/>
            <a:ext cx="2249424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SL · 32K/miss1K · C=7.26ms</a:t>
            </a:r>
          </a:p>
        </p:txBody>
      </p:sp>
      <p:sp>
        <p:nvSpPr>
          <p:cNvPr id="35" name="保留全池：32条/盘"/>
          <p:cNvSpPr txBox="1"/>
          <p:nvPr/>
        </p:nvSpPr>
        <p:spPr>
          <a:xfrm>
            <a:off x="402336" y="3300984"/>
            <a:ext cx="205740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69A4"/>
                </a:solidFill>
                <a:latin typeface="Noto Sans CJK SC"/>
                <a:ea typeface="Noto Sans CJK SC"/>
                <a:cs typeface="Noto Sans CJK SC"/>
              </a:rPr>
              <a:t>保留全池：32条/盘</a:t>
            </a:r>
          </a:p>
        </p:txBody>
      </p:sp>
      <p:sp>
        <p:nvSpPr>
          <p:cNvPr id="36" name="box_35"/>
          <p:cNvSpPr/>
          <p:nvPr/>
        </p:nvSpPr>
        <p:spPr>
          <a:xfrm>
            <a:off x="694944" y="3675887"/>
            <a:ext cx="1472184" cy="530352"/>
          </a:xfrm>
          <a:prstGeom prst="rect">
            <a:avLst/>
          </a:prstGeom>
          <a:solidFill>
            <a:srgbClr val="FFFFFF"/>
          </a:solidFill>
          <a:ln w="10795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PU1"/>
          <p:cNvSpPr txBox="1"/>
          <p:nvPr/>
        </p:nvSpPr>
        <p:spPr>
          <a:xfrm>
            <a:off x="694944" y="3675887"/>
            <a:ext cx="1472184" cy="5303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46620"/>
                </a:solidFill>
                <a:latin typeface="Noto Sans CJK SC"/>
                <a:ea typeface="Noto Sans CJK SC"/>
                <a:cs typeface="Noto Sans CJK SC"/>
              </a:rPr>
              <a:t>NPU1</a:t>
            </a:r>
          </a:p>
        </p:txBody>
      </p:sp>
      <p:sp>
        <p:nvSpPr>
          <p:cNvPr id="38" name="SL · 32K/miss4K · C=28.59ms"/>
          <p:cNvSpPr txBox="1"/>
          <p:nvPr/>
        </p:nvSpPr>
        <p:spPr>
          <a:xfrm>
            <a:off x="310896" y="4306823"/>
            <a:ext cx="2249424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SL · 32K/miss4K · C=28.59ms</a:t>
            </a:r>
          </a:p>
        </p:txBody>
      </p:sp>
      <p:sp>
        <p:nvSpPr>
          <p:cNvPr id="39" name="固定池：8条/盘"/>
          <p:cNvSpPr txBox="1"/>
          <p:nvPr/>
        </p:nvSpPr>
        <p:spPr>
          <a:xfrm>
            <a:off x="402336" y="4581144"/>
            <a:ext cx="205740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6620"/>
                </a:solidFill>
                <a:latin typeface="Noto Sans CJK SC"/>
                <a:ea typeface="Noto Sans CJK SC"/>
                <a:cs typeface="Noto Sans CJK SC"/>
              </a:rPr>
              <a:t>固定池：8条/盘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167128" y="2660904"/>
            <a:ext cx="603504" cy="0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770632" y="2660904"/>
            <a:ext cx="0" cy="955548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70632" y="3616452"/>
            <a:ext cx="1188720" cy="0"/>
          </a:xfrm>
          <a:prstGeom prst="line">
            <a:avLst/>
          </a:prstGeom>
          <a:ln w="19685">
            <a:solidFill>
              <a:srgbClr val="3569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167128" y="3941063"/>
            <a:ext cx="1179576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346704" y="3941063"/>
            <a:ext cx="0" cy="123445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346704" y="4064508"/>
            <a:ext cx="612648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第 L+1 层"/>
          <p:cNvSpPr txBox="1"/>
          <p:nvPr/>
        </p:nvSpPr>
        <p:spPr>
          <a:xfrm>
            <a:off x="7818119" y="1700784"/>
            <a:ext cx="21031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第 L+1 层</a:t>
            </a:r>
          </a:p>
        </p:txBody>
      </p:sp>
      <p:sp>
        <p:nvSpPr>
          <p:cNvPr id="47" name="同一块SSU；候选池不变，选路可变"/>
          <p:cNvSpPr txBox="1"/>
          <p:nvPr/>
        </p:nvSpPr>
        <p:spPr>
          <a:xfrm>
            <a:off x="10241280" y="1755648"/>
            <a:ext cx="370332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同一块SSU；候选池不变，选路可变</a:t>
            </a:r>
          </a:p>
        </p:txBody>
      </p:sp>
      <p:sp>
        <p:nvSpPr>
          <p:cNvPr id="48" name="panel_7.85_SSU0"/>
          <p:cNvSpPr/>
          <p:nvPr/>
        </p:nvSpPr>
        <p:spPr>
          <a:xfrm>
            <a:off x="11018520" y="2221992"/>
            <a:ext cx="2926080" cy="2267712"/>
          </a:xfrm>
          <a:prstGeom prst="rect">
            <a:avLst/>
          </a:prstGeom>
          <a:solidFill>
            <a:srgbClr val="FFFFFF"/>
          </a:solidFill>
          <a:ln w="825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SU0"/>
          <p:cNvSpPr txBox="1"/>
          <p:nvPr/>
        </p:nvSpPr>
        <p:spPr>
          <a:xfrm>
            <a:off x="11164824" y="2295144"/>
            <a:ext cx="10058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SSU0</a:t>
            </a:r>
          </a:p>
        </p:txBody>
      </p:sp>
      <p:sp>
        <p:nvSpPr>
          <p:cNvPr id="50" name="SL 类：32 条 Path（仅画 3 条）"/>
          <p:cNvSpPr txBox="1"/>
          <p:nvPr/>
        </p:nvSpPr>
        <p:spPr>
          <a:xfrm>
            <a:off x="11164824" y="2633472"/>
            <a:ext cx="265176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SL 类：32 条 Path（仅画 3 条）</a:t>
            </a:r>
          </a:p>
        </p:txBody>
      </p:sp>
      <p:sp>
        <p:nvSpPr>
          <p:cNvPr id="51" name="panel_7.85_ssu_0_path_12_candidate_True"/>
          <p:cNvSpPr/>
          <p:nvPr/>
        </p:nvSpPr>
        <p:spPr>
          <a:xfrm>
            <a:off x="11137392" y="2971800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th12"/>
          <p:cNvSpPr txBox="1"/>
          <p:nvPr/>
        </p:nvSpPr>
        <p:spPr>
          <a:xfrm>
            <a:off x="11265408" y="2985516"/>
            <a:ext cx="886968" cy="356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Path12</a:t>
            </a:r>
          </a:p>
        </p:txBody>
      </p:sp>
      <p:sp>
        <p:nvSpPr>
          <p:cNvPr id="53" name="box_52"/>
          <p:cNvSpPr/>
          <p:nvPr/>
        </p:nvSpPr>
        <p:spPr>
          <a:xfrm>
            <a:off x="12170664" y="303123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O"/>
          <p:cNvSpPr txBox="1"/>
          <p:nvPr/>
        </p:nvSpPr>
        <p:spPr>
          <a:xfrm>
            <a:off x="12170664" y="3031236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55" name="panel_7.85_ssu_0_path_13_candidate_False"/>
          <p:cNvSpPr/>
          <p:nvPr/>
        </p:nvSpPr>
        <p:spPr>
          <a:xfrm>
            <a:off x="11137392" y="3419856"/>
            <a:ext cx="2688336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ath13"/>
          <p:cNvSpPr txBox="1"/>
          <p:nvPr/>
        </p:nvSpPr>
        <p:spPr>
          <a:xfrm>
            <a:off x="11265408" y="3433572"/>
            <a:ext cx="886968" cy="356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Path13</a:t>
            </a:r>
          </a:p>
        </p:txBody>
      </p:sp>
      <p:sp>
        <p:nvSpPr>
          <p:cNvPr id="57" name="box_56"/>
          <p:cNvSpPr/>
          <p:nvPr/>
        </p:nvSpPr>
        <p:spPr>
          <a:xfrm>
            <a:off x="12170664" y="3479292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IO"/>
          <p:cNvSpPr txBox="1"/>
          <p:nvPr/>
        </p:nvSpPr>
        <p:spPr>
          <a:xfrm>
            <a:off x="12170664" y="3479292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59" name="box_58"/>
          <p:cNvSpPr/>
          <p:nvPr/>
        </p:nvSpPr>
        <p:spPr>
          <a:xfrm>
            <a:off x="12527280" y="3479292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IO"/>
          <p:cNvSpPr txBox="1"/>
          <p:nvPr/>
        </p:nvSpPr>
        <p:spPr>
          <a:xfrm>
            <a:off x="12527280" y="3479292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61" name="box_60"/>
          <p:cNvSpPr/>
          <p:nvPr/>
        </p:nvSpPr>
        <p:spPr>
          <a:xfrm>
            <a:off x="12883896" y="3479292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IO"/>
          <p:cNvSpPr txBox="1"/>
          <p:nvPr/>
        </p:nvSpPr>
        <p:spPr>
          <a:xfrm>
            <a:off x="12883896" y="3479292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63" name="panel_7.85_ssu_0_path_44_candidate_True"/>
          <p:cNvSpPr/>
          <p:nvPr/>
        </p:nvSpPr>
        <p:spPr>
          <a:xfrm>
            <a:off x="11137392" y="3867912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ath44"/>
          <p:cNvSpPr txBox="1"/>
          <p:nvPr/>
        </p:nvSpPr>
        <p:spPr>
          <a:xfrm>
            <a:off x="11265408" y="3881628"/>
            <a:ext cx="886968" cy="356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Path44</a:t>
            </a:r>
          </a:p>
        </p:txBody>
      </p:sp>
      <p:sp>
        <p:nvSpPr>
          <p:cNvPr id="65" name="box_64"/>
          <p:cNvSpPr/>
          <p:nvPr/>
        </p:nvSpPr>
        <p:spPr>
          <a:xfrm>
            <a:off x="12170664" y="39273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IO"/>
          <p:cNvSpPr txBox="1"/>
          <p:nvPr/>
        </p:nvSpPr>
        <p:spPr>
          <a:xfrm>
            <a:off x="12170664" y="3927348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67" name="box_66"/>
          <p:cNvSpPr/>
          <p:nvPr/>
        </p:nvSpPr>
        <p:spPr>
          <a:xfrm>
            <a:off x="12527280" y="39273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IO"/>
          <p:cNvSpPr txBox="1"/>
          <p:nvPr/>
        </p:nvSpPr>
        <p:spPr>
          <a:xfrm>
            <a:off x="12527280" y="3927348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69" name="box_68"/>
          <p:cNvSpPr/>
          <p:nvPr/>
        </p:nvSpPr>
        <p:spPr>
          <a:xfrm>
            <a:off x="12883896" y="39273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IO"/>
          <p:cNvSpPr txBox="1"/>
          <p:nvPr/>
        </p:nvSpPr>
        <p:spPr>
          <a:xfrm>
            <a:off x="12883896" y="3927348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71" name="box_70"/>
          <p:cNvSpPr/>
          <p:nvPr/>
        </p:nvSpPr>
        <p:spPr>
          <a:xfrm>
            <a:off x="13240512" y="39273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IO"/>
          <p:cNvSpPr txBox="1"/>
          <p:nvPr/>
        </p:nvSpPr>
        <p:spPr>
          <a:xfrm>
            <a:off x="13240512" y="3927348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73" name="每盘独立选路 · Path 内部 FIFO"/>
          <p:cNvSpPr txBox="1"/>
          <p:nvPr/>
        </p:nvSpPr>
        <p:spPr>
          <a:xfrm>
            <a:off x="11164824" y="4311396"/>
            <a:ext cx="265176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每盘独立选路 · Path 内部 FIFO</a:t>
            </a:r>
          </a:p>
        </p:txBody>
      </p:sp>
      <p:sp>
        <p:nvSpPr>
          <p:cNvPr id="74" name="box_73"/>
          <p:cNvSpPr/>
          <p:nvPr/>
        </p:nvSpPr>
        <p:spPr>
          <a:xfrm>
            <a:off x="7872983" y="2395728"/>
            <a:ext cx="1472184" cy="530352"/>
          </a:xfrm>
          <a:prstGeom prst="rect">
            <a:avLst/>
          </a:prstGeom>
          <a:solidFill>
            <a:srgbClr val="FFFFFF"/>
          </a:solidFill>
          <a:ln w="10795">
            <a:solidFill>
              <a:srgbClr val="35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PU0"/>
          <p:cNvSpPr txBox="1"/>
          <p:nvPr/>
        </p:nvSpPr>
        <p:spPr>
          <a:xfrm>
            <a:off x="7872983" y="2395728"/>
            <a:ext cx="1472184" cy="5303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569A4"/>
                </a:solidFill>
                <a:latin typeface="Noto Sans CJK SC"/>
                <a:ea typeface="Noto Sans CJK SC"/>
                <a:cs typeface="Noto Sans CJK SC"/>
              </a:rPr>
              <a:t>NPU0</a:t>
            </a:r>
          </a:p>
        </p:txBody>
      </p:sp>
      <p:sp>
        <p:nvSpPr>
          <p:cNvPr id="76" name="SL · 32K/miss1K · C=7.26ms"/>
          <p:cNvSpPr txBox="1"/>
          <p:nvPr/>
        </p:nvSpPr>
        <p:spPr>
          <a:xfrm>
            <a:off x="7488936" y="3026664"/>
            <a:ext cx="2249424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SL · 32K/miss1K · C=7.26ms</a:t>
            </a:r>
          </a:p>
        </p:txBody>
      </p:sp>
      <p:sp>
        <p:nvSpPr>
          <p:cNvPr id="77" name="保留全池：32条/盘"/>
          <p:cNvSpPr txBox="1"/>
          <p:nvPr/>
        </p:nvSpPr>
        <p:spPr>
          <a:xfrm>
            <a:off x="7580375" y="3300984"/>
            <a:ext cx="205740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69A4"/>
                </a:solidFill>
                <a:latin typeface="Noto Sans CJK SC"/>
                <a:ea typeface="Noto Sans CJK SC"/>
                <a:cs typeface="Noto Sans CJK SC"/>
              </a:rPr>
              <a:t>保留全池：32条/盘</a:t>
            </a:r>
          </a:p>
        </p:txBody>
      </p:sp>
      <p:sp>
        <p:nvSpPr>
          <p:cNvPr id="78" name="box_77"/>
          <p:cNvSpPr/>
          <p:nvPr/>
        </p:nvSpPr>
        <p:spPr>
          <a:xfrm>
            <a:off x="7872983" y="3675887"/>
            <a:ext cx="1472184" cy="530352"/>
          </a:xfrm>
          <a:prstGeom prst="rect">
            <a:avLst/>
          </a:prstGeom>
          <a:solidFill>
            <a:srgbClr val="FFFFFF"/>
          </a:solidFill>
          <a:ln w="10795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PU1"/>
          <p:cNvSpPr txBox="1"/>
          <p:nvPr/>
        </p:nvSpPr>
        <p:spPr>
          <a:xfrm>
            <a:off x="7872983" y="3675887"/>
            <a:ext cx="1472184" cy="5303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46620"/>
                </a:solidFill>
                <a:latin typeface="Noto Sans CJK SC"/>
                <a:ea typeface="Noto Sans CJK SC"/>
                <a:cs typeface="Noto Sans CJK SC"/>
              </a:rPr>
              <a:t>NPU1</a:t>
            </a:r>
          </a:p>
        </p:txBody>
      </p:sp>
      <p:sp>
        <p:nvSpPr>
          <p:cNvPr id="80" name="SL · 32K/miss4K · C=28.59ms"/>
          <p:cNvSpPr txBox="1"/>
          <p:nvPr/>
        </p:nvSpPr>
        <p:spPr>
          <a:xfrm>
            <a:off x="7488936" y="4306823"/>
            <a:ext cx="2249424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SL · 32K/miss4K · C=28.59ms</a:t>
            </a:r>
          </a:p>
        </p:txBody>
      </p:sp>
      <p:sp>
        <p:nvSpPr>
          <p:cNvPr id="81" name="固定池：8条/盘"/>
          <p:cNvSpPr txBox="1"/>
          <p:nvPr/>
        </p:nvSpPr>
        <p:spPr>
          <a:xfrm>
            <a:off x="7580375" y="4581144"/>
            <a:ext cx="205740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6620"/>
                </a:solidFill>
                <a:latin typeface="Noto Sans CJK SC"/>
                <a:ea typeface="Noto Sans CJK SC"/>
                <a:cs typeface="Noto Sans CJK SC"/>
              </a:rPr>
              <a:t>固定池：8条/盘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9345167" y="2660904"/>
            <a:ext cx="603505" cy="0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948672" y="2660904"/>
            <a:ext cx="0" cy="448056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948672" y="3108960"/>
            <a:ext cx="1188720" cy="0"/>
          </a:xfrm>
          <a:prstGeom prst="line">
            <a:avLst/>
          </a:prstGeom>
          <a:ln w="19685">
            <a:solidFill>
              <a:srgbClr val="3569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345167" y="3941063"/>
            <a:ext cx="1179577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524744" y="3227832"/>
            <a:ext cx="0" cy="713231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524744" y="3227832"/>
            <a:ext cx="612648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蓝线：全池请求；橙虚线：固定池请求。Once用每5ms更新的拥塞快照逐块选路；一层可走多条Pat"/>
          <p:cNvSpPr txBox="1"/>
          <p:nvPr/>
        </p:nvSpPr>
        <p:spPr>
          <a:xfrm>
            <a:off x="557784" y="4928616"/>
            <a:ext cx="13670280" cy="2834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蓝线：全池请求；橙虚线：固定池请求。Once用每5ms更新的拥塞快照逐块选路；一层可走多条Path。</a:t>
            </a:r>
          </a:p>
        </p:txBody>
      </p:sp>
      <p:sp>
        <p:nvSpPr>
          <p:cNvPr id="89" name="实测结果：32 NPU / 3 SSU × 40 GiB/s · Random输入 · warm"/>
          <p:cNvSpPr txBox="1"/>
          <p:nvPr/>
        </p:nvSpPr>
        <p:spPr>
          <a:xfrm>
            <a:off x="557784" y="5312664"/>
            <a:ext cx="1367028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实测结果：32 NPU / 3 SSU × 40 GiB/s · Random输入 · warm [2,4)秒 · seed 7 / 19 / 43 等权平均</a:t>
            </a:r>
          </a:p>
        </p:txBody>
      </p:sp>
      <p:sp>
        <p:nvSpPr>
          <p:cNvPr id="90" name="box_89"/>
          <p:cNvSpPr/>
          <p:nvPr/>
        </p:nvSpPr>
        <p:spPr>
          <a:xfrm>
            <a:off x="557784" y="5632704"/>
            <a:ext cx="2606040" cy="265176"/>
          </a:xfrm>
          <a:prstGeom prst="rect">
            <a:avLst/>
          </a:prstGeom>
          <a:solidFill>
            <a:srgbClr val="E4E9F0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负载"/>
          <p:cNvSpPr txBox="1"/>
          <p:nvPr/>
        </p:nvSpPr>
        <p:spPr>
          <a:xfrm>
            <a:off x="649224" y="5643676"/>
            <a:ext cx="242316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负载</a:t>
            </a:r>
          </a:p>
        </p:txBody>
      </p:sp>
      <p:sp>
        <p:nvSpPr>
          <p:cNvPr id="92" name="box_91"/>
          <p:cNvSpPr/>
          <p:nvPr/>
        </p:nvSpPr>
        <p:spPr>
          <a:xfrm>
            <a:off x="3163824" y="5632704"/>
            <a:ext cx="3840480" cy="265176"/>
          </a:xfrm>
          <a:prstGeom prst="rect">
            <a:avLst/>
          </a:prstGeom>
          <a:solidFill>
            <a:srgbClr val="E4E9F0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策略"/>
          <p:cNvSpPr txBox="1"/>
          <p:nvPr/>
        </p:nvSpPr>
        <p:spPr>
          <a:xfrm>
            <a:off x="3255264" y="5643676"/>
            <a:ext cx="365760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策略</a:t>
            </a:r>
          </a:p>
        </p:txBody>
      </p:sp>
      <p:sp>
        <p:nvSpPr>
          <p:cNvPr id="94" name="box_93"/>
          <p:cNvSpPr/>
          <p:nvPr/>
        </p:nvSpPr>
        <p:spPr>
          <a:xfrm>
            <a:off x="7004304" y="5632704"/>
            <a:ext cx="3017520" cy="265176"/>
          </a:xfrm>
          <a:prstGeom prst="rect">
            <a:avLst/>
          </a:prstGeom>
          <a:solidFill>
            <a:srgbClr val="E4E9F0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NPU平均利用率"/>
          <p:cNvSpPr txBox="1"/>
          <p:nvPr/>
        </p:nvSpPr>
        <p:spPr>
          <a:xfrm>
            <a:off x="7095744" y="5643676"/>
            <a:ext cx="2834639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NPU平均利用率</a:t>
            </a:r>
          </a:p>
        </p:txBody>
      </p:sp>
      <p:sp>
        <p:nvSpPr>
          <p:cNvPr id="96" name="box_95"/>
          <p:cNvSpPr/>
          <p:nvPr/>
        </p:nvSpPr>
        <p:spPr>
          <a:xfrm>
            <a:off x="10021824" y="5632704"/>
            <a:ext cx="4114800" cy="265176"/>
          </a:xfrm>
          <a:prstGeom prst="rect">
            <a:avLst/>
          </a:prstGeom>
          <a:solidFill>
            <a:srgbClr val="E4E9F0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TFT SLO×1.5达标率"/>
          <p:cNvSpPr txBox="1"/>
          <p:nvPr/>
        </p:nvSpPr>
        <p:spPr>
          <a:xfrm>
            <a:off x="10113264" y="5643676"/>
            <a:ext cx="393192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TTFT SLO×1.5达标率</a:t>
            </a:r>
          </a:p>
        </p:txBody>
      </p:sp>
      <p:sp>
        <p:nvSpPr>
          <p:cNvPr id="98" name="box_97"/>
          <p:cNvSpPr/>
          <p:nvPr/>
        </p:nvSpPr>
        <p:spPr>
          <a:xfrm>
            <a:off x="557784" y="5897880"/>
            <a:ext cx="26060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间歇过载"/>
          <p:cNvSpPr txBox="1"/>
          <p:nvPr/>
        </p:nvSpPr>
        <p:spPr>
          <a:xfrm>
            <a:off x="649224" y="5908852"/>
            <a:ext cx="242316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间歇过载</a:t>
            </a:r>
          </a:p>
        </p:txBody>
      </p:sp>
      <p:sp>
        <p:nvSpPr>
          <p:cNvPr id="100" name="box_99"/>
          <p:cNvSpPr/>
          <p:nvPr/>
        </p:nvSpPr>
        <p:spPr>
          <a:xfrm>
            <a:off x="3163824" y="5897880"/>
            <a:ext cx="38404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Baseline Random"/>
          <p:cNvSpPr txBox="1"/>
          <p:nvPr/>
        </p:nvSpPr>
        <p:spPr>
          <a:xfrm>
            <a:off x="3255264" y="5908852"/>
            <a:ext cx="365760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Baseline Random</a:t>
            </a:r>
          </a:p>
        </p:txBody>
      </p:sp>
      <p:sp>
        <p:nvSpPr>
          <p:cNvPr id="102" name="box_101"/>
          <p:cNvSpPr/>
          <p:nvPr/>
        </p:nvSpPr>
        <p:spPr>
          <a:xfrm>
            <a:off x="7004304" y="5897880"/>
            <a:ext cx="30175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99.24%"/>
          <p:cNvSpPr txBox="1"/>
          <p:nvPr/>
        </p:nvSpPr>
        <p:spPr>
          <a:xfrm>
            <a:off x="7095744" y="5908852"/>
            <a:ext cx="2834639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99.24%</a:t>
            </a:r>
          </a:p>
        </p:txBody>
      </p:sp>
      <p:sp>
        <p:nvSpPr>
          <p:cNvPr id="104" name="box_103"/>
          <p:cNvSpPr/>
          <p:nvPr/>
        </p:nvSpPr>
        <p:spPr>
          <a:xfrm>
            <a:off x="10021824" y="5897880"/>
            <a:ext cx="41148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96.27%"/>
          <p:cNvSpPr txBox="1"/>
          <p:nvPr/>
        </p:nvSpPr>
        <p:spPr>
          <a:xfrm>
            <a:off x="10113264" y="5908852"/>
            <a:ext cx="393192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96.27%</a:t>
            </a:r>
          </a:p>
        </p:txBody>
      </p:sp>
      <p:sp>
        <p:nvSpPr>
          <p:cNvPr id="106" name="box_105"/>
          <p:cNvSpPr/>
          <p:nvPr/>
        </p:nvSpPr>
        <p:spPr>
          <a:xfrm>
            <a:off x="557784" y="6163056"/>
            <a:ext cx="26060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间歇过载"/>
          <p:cNvSpPr txBox="1"/>
          <p:nvPr/>
        </p:nvSpPr>
        <p:spPr>
          <a:xfrm>
            <a:off x="649224" y="6174028"/>
            <a:ext cx="242316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间歇过载</a:t>
            </a:r>
          </a:p>
        </p:txBody>
      </p:sp>
      <p:sp>
        <p:nvSpPr>
          <p:cNvPr id="108" name="box_107"/>
          <p:cNvSpPr/>
          <p:nvPr/>
        </p:nvSpPr>
        <p:spPr>
          <a:xfrm>
            <a:off x="3163824" y="6163056"/>
            <a:ext cx="38404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原始 Once per layer"/>
          <p:cNvSpPr txBox="1"/>
          <p:nvPr/>
        </p:nvSpPr>
        <p:spPr>
          <a:xfrm>
            <a:off x="3255264" y="6174028"/>
            <a:ext cx="365760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原始 Once per layer</a:t>
            </a:r>
          </a:p>
        </p:txBody>
      </p:sp>
      <p:sp>
        <p:nvSpPr>
          <p:cNvPr id="110" name="box_109"/>
          <p:cNvSpPr/>
          <p:nvPr/>
        </p:nvSpPr>
        <p:spPr>
          <a:xfrm>
            <a:off x="7004304" y="6163056"/>
            <a:ext cx="30175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99.28%"/>
          <p:cNvSpPr txBox="1"/>
          <p:nvPr/>
        </p:nvSpPr>
        <p:spPr>
          <a:xfrm>
            <a:off x="7095744" y="6174028"/>
            <a:ext cx="2834639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99.28%</a:t>
            </a:r>
          </a:p>
        </p:txBody>
      </p:sp>
      <p:sp>
        <p:nvSpPr>
          <p:cNvPr id="112" name="box_111"/>
          <p:cNvSpPr/>
          <p:nvPr/>
        </p:nvSpPr>
        <p:spPr>
          <a:xfrm>
            <a:off x="10021824" y="6163056"/>
            <a:ext cx="41148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99.81%"/>
          <p:cNvSpPr txBox="1"/>
          <p:nvPr/>
        </p:nvSpPr>
        <p:spPr>
          <a:xfrm>
            <a:off x="10113264" y="6174028"/>
            <a:ext cx="393192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99.81%</a:t>
            </a:r>
          </a:p>
        </p:txBody>
      </p:sp>
      <p:sp>
        <p:nvSpPr>
          <p:cNvPr id="114" name="box_113"/>
          <p:cNvSpPr/>
          <p:nvPr/>
        </p:nvSpPr>
        <p:spPr>
          <a:xfrm>
            <a:off x="557784" y="6428232"/>
            <a:ext cx="2606040" cy="26517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间歇过载"/>
          <p:cNvSpPr txBox="1"/>
          <p:nvPr/>
        </p:nvSpPr>
        <p:spPr>
          <a:xfrm>
            <a:off x="649224" y="6439204"/>
            <a:ext cx="242316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间歇过载</a:t>
            </a:r>
          </a:p>
        </p:txBody>
      </p:sp>
      <p:sp>
        <p:nvSpPr>
          <p:cNvPr id="116" name="box_115"/>
          <p:cNvSpPr/>
          <p:nvPr/>
        </p:nvSpPr>
        <p:spPr>
          <a:xfrm>
            <a:off x="3163824" y="6428232"/>
            <a:ext cx="3840480" cy="26517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固定候选池 + Once"/>
          <p:cNvSpPr txBox="1"/>
          <p:nvPr/>
        </p:nvSpPr>
        <p:spPr>
          <a:xfrm>
            <a:off x="3255264" y="6439204"/>
            <a:ext cx="365760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固定候选池 + Once</a:t>
            </a:r>
          </a:p>
        </p:txBody>
      </p:sp>
      <p:sp>
        <p:nvSpPr>
          <p:cNvPr id="118" name="box_117"/>
          <p:cNvSpPr/>
          <p:nvPr/>
        </p:nvSpPr>
        <p:spPr>
          <a:xfrm>
            <a:off x="7004304" y="6428232"/>
            <a:ext cx="3017520" cy="26517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99.18%"/>
          <p:cNvSpPr txBox="1"/>
          <p:nvPr/>
        </p:nvSpPr>
        <p:spPr>
          <a:xfrm>
            <a:off x="7095744" y="6439204"/>
            <a:ext cx="2834639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99.18%</a:t>
            </a:r>
          </a:p>
        </p:txBody>
      </p:sp>
      <p:sp>
        <p:nvSpPr>
          <p:cNvPr id="120" name="box_119"/>
          <p:cNvSpPr/>
          <p:nvPr/>
        </p:nvSpPr>
        <p:spPr>
          <a:xfrm>
            <a:off x="10021824" y="6428232"/>
            <a:ext cx="4114800" cy="26517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100.00%"/>
          <p:cNvSpPr txBox="1"/>
          <p:nvPr/>
        </p:nvSpPr>
        <p:spPr>
          <a:xfrm>
            <a:off x="10113264" y="6439204"/>
            <a:ext cx="393192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100.00%</a:t>
            </a:r>
          </a:p>
        </p:txBody>
      </p:sp>
      <p:sp>
        <p:nvSpPr>
          <p:cNvPr id="122" name="box_121"/>
          <p:cNvSpPr/>
          <p:nvPr/>
        </p:nvSpPr>
        <p:spPr>
          <a:xfrm>
            <a:off x="557784" y="6693408"/>
            <a:ext cx="26060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持续过载"/>
          <p:cNvSpPr txBox="1"/>
          <p:nvPr/>
        </p:nvSpPr>
        <p:spPr>
          <a:xfrm>
            <a:off x="649224" y="6704380"/>
            <a:ext cx="242316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持续过载</a:t>
            </a:r>
          </a:p>
        </p:txBody>
      </p:sp>
      <p:sp>
        <p:nvSpPr>
          <p:cNvPr id="124" name="box_123"/>
          <p:cNvSpPr/>
          <p:nvPr/>
        </p:nvSpPr>
        <p:spPr>
          <a:xfrm>
            <a:off x="3163824" y="6693408"/>
            <a:ext cx="38404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Baseline Random"/>
          <p:cNvSpPr txBox="1"/>
          <p:nvPr/>
        </p:nvSpPr>
        <p:spPr>
          <a:xfrm>
            <a:off x="3255264" y="6704380"/>
            <a:ext cx="365760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Baseline Random</a:t>
            </a:r>
          </a:p>
        </p:txBody>
      </p:sp>
      <p:sp>
        <p:nvSpPr>
          <p:cNvPr id="126" name="box_125"/>
          <p:cNvSpPr/>
          <p:nvPr/>
        </p:nvSpPr>
        <p:spPr>
          <a:xfrm>
            <a:off x="7004304" y="6693408"/>
            <a:ext cx="30175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62.38%"/>
          <p:cNvSpPr txBox="1"/>
          <p:nvPr/>
        </p:nvSpPr>
        <p:spPr>
          <a:xfrm>
            <a:off x="7095744" y="6704380"/>
            <a:ext cx="2834639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62.38%</a:t>
            </a:r>
          </a:p>
        </p:txBody>
      </p:sp>
      <p:sp>
        <p:nvSpPr>
          <p:cNvPr id="128" name="box_127"/>
          <p:cNvSpPr/>
          <p:nvPr/>
        </p:nvSpPr>
        <p:spPr>
          <a:xfrm>
            <a:off x="10021824" y="6693408"/>
            <a:ext cx="41148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40.30%"/>
          <p:cNvSpPr txBox="1"/>
          <p:nvPr/>
        </p:nvSpPr>
        <p:spPr>
          <a:xfrm>
            <a:off x="10113264" y="6704380"/>
            <a:ext cx="393192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40.30%</a:t>
            </a:r>
          </a:p>
        </p:txBody>
      </p:sp>
      <p:sp>
        <p:nvSpPr>
          <p:cNvPr id="130" name="box_129"/>
          <p:cNvSpPr/>
          <p:nvPr/>
        </p:nvSpPr>
        <p:spPr>
          <a:xfrm>
            <a:off x="557784" y="6958584"/>
            <a:ext cx="26060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持续过载"/>
          <p:cNvSpPr txBox="1"/>
          <p:nvPr/>
        </p:nvSpPr>
        <p:spPr>
          <a:xfrm>
            <a:off x="649224" y="6969556"/>
            <a:ext cx="242316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持续过载</a:t>
            </a:r>
          </a:p>
        </p:txBody>
      </p:sp>
      <p:sp>
        <p:nvSpPr>
          <p:cNvPr id="132" name="box_131"/>
          <p:cNvSpPr/>
          <p:nvPr/>
        </p:nvSpPr>
        <p:spPr>
          <a:xfrm>
            <a:off x="3163824" y="6958584"/>
            <a:ext cx="38404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原始 Once per layer"/>
          <p:cNvSpPr txBox="1"/>
          <p:nvPr/>
        </p:nvSpPr>
        <p:spPr>
          <a:xfrm>
            <a:off x="3255264" y="6969556"/>
            <a:ext cx="365760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原始 Once per layer</a:t>
            </a:r>
          </a:p>
        </p:txBody>
      </p:sp>
      <p:sp>
        <p:nvSpPr>
          <p:cNvPr id="134" name="box_133"/>
          <p:cNvSpPr/>
          <p:nvPr/>
        </p:nvSpPr>
        <p:spPr>
          <a:xfrm>
            <a:off x="7004304" y="6958584"/>
            <a:ext cx="30175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64.44%"/>
          <p:cNvSpPr txBox="1"/>
          <p:nvPr/>
        </p:nvSpPr>
        <p:spPr>
          <a:xfrm>
            <a:off x="7095744" y="6969556"/>
            <a:ext cx="2834639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64.44%</a:t>
            </a:r>
          </a:p>
        </p:txBody>
      </p:sp>
      <p:sp>
        <p:nvSpPr>
          <p:cNvPr id="136" name="box_135"/>
          <p:cNvSpPr/>
          <p:nvPr/>
        </p:nvSpPr>
        <p:spPr>
          <a:xfrm>
            <a:off x="10021824" y="6958584"/>
            <a:ext cx="41148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76.13%"/>
          <p:cNvSpPr txBox="1"/>
          <p:nvPr/>
        </p:nvSpPr>
        <p:spPr>
          <a:xfrm>
            <a:off x="10113264" y="6969556"/>
            <a:ext cx="393192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76.13%</a:t>
            </a:r>
          </a:p>
        </p:txBody>
      </p:sp>
      <p:sp>
        <p:nvSpPr>
          <p:cNvPr id="138" name="box_137"/>
          <p:cNvSpPr/>
          <p:nvPr/>
        </p:nvSpPr>
        <p:spPr>
          <a:xfrm>
            <a:off x="557784" y="7223760"/>
            <a:ext cx="2606040" cy="26517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持续过载"/>
          <p:cNvSpPr txBox="1"/>
          <p:nvPr/>
        </p:nvSpPr>
        <p:spPr>
          <a:xfrm>
            <a:off x="649224" y="7234732"/>
            <a:ext cx="242316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持续过载</a:t>
            </a:r>
          </a:p>
        </p:txBody>
      </p:sp>
      <p:sp>
        <p:nvSpPr>
          <p:cNvPr id="140" name="box_139"/>
          <p:cNvSpPr/>
          <p:nvPr/>
        </p:nvSpPr>
        <p:spPr>
          <a:xfrm>
            <a:off x="3163824" y="7223760"/>
            <a:ext cx="3840480" cy="26517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固定候选池 + Once"/>
          <p:cNvSpPr txBox="1"/>
          <p:nvPr/>
        </p:nvSpPr>
        <p:spPr>
          <a:xfrm>
            <a:off x="3255264" y="7234732"/>
            <a:ext cx="365760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固定候选池 + Once</a:t>
            </a:r>
          </a:p>
        </p:txBody>
      </p:sp>
      <p:sp>
        <p:nvSpPr>
          <p:cNvPr id="142" name="box_141"/>
          <p:cNvSpPr/>
          <p:nvPr/>
        </p:nvSpPr>
        <p:spPr>
          <a:xfrm>
            <a:off x="7004304" y="7223760"/>
            <a:ext cx="3017520" cy="26517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64.37%"/>
          <p:cNvSpPr txBox="1"/>
          <p:nvPr/>
        </p:nvSpPr>
        <p:spPr>
          <a:xfrm>
            <a:off x="7095744" y="7234732"/>
            <a:ext cx="2834639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64.37%</a:t>
            </a:r>
          </a:p>
        </p:txBody>
      </p:sp>
      <p:sp>
        <p:nvSpPr>
          <p:cNvPr id="144" name="box_143"/>
          <p:cNvSpPr/>
          <p:nvPr/>
        </p:nvSpPr>
        <p:spPr>
          <a:xfrm>
            <a:off x="10021824" y="7223760"/>
            <a:ext cx="4114800" cy="26517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76.96%"/>
          <p:cNvSpPr txBox="1"/>
          <p:nvPr/>
        </p:nvSpPr>
        <p:spPr>
          <a:xfrm>
            <a:off x="10113264" y="7234732"/>
            <a:ext cx="3931920" cy="2432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76.96%</a:t>
            </a:r>
          </a:p>
        </p:txBody>
      </p:sp>
      <p:sp>
        <p:nvSpPr>
          <p:cNvPr id="146" name="SLO口径：窗内接纳请求跟踪至完成；接纳到prefill完成 ≤ 1.5 × 自身纯计算时间，不"/>
          <p:cNvSpPr txBox="1"/>
          <p:nvPr/>
        </p:nvSpPr>
        <p:spPr>
          <a:xfrm>
            <a:off x="557784" y="7589520"/>
            <a:ext cx="1367028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SLO口径：窗内接纳请求跟踪至完成；接纳到prefill完成 ≤ 1.5 × 自身纯计算时间，不含接纳前排队。</a:t>
            </a:r>
          </a:p>
        </p:txBody>
      </p:sp>
      <p:sp>
        <p:nvSpPr>
          <p:cNvPr id="147" name="持续过载LL达标率（Baseline / 原始Once / 固定池）：95.08% / 31.1"/>
          <p:cNvSpPr txBox="1"/>
          <p:nvPr/>
        </p:nvSpPr>
        <p:spPr>
          <a:xfrm>
            <a:off x="557784" y="7909560"/>
            <a:ext cx="13670280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持续过载LL达标率（Baseline / 原始Once / 固定池）：95.08% / 31.11% / 27.17%；示意仅2卡1盘；未接纳首层用全池；FIFO/CIR/PIR不变。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</Words>
  <Application>WPS Presentation</Application>
  <PresentationFormat>On-screen Show (4:3)</PresentationFormat>
  <Paragraphs>132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Arial</vt:lpstr>
      <vt:lpstr>Noto Sans CJK SC</vt:lpstr>
      <vt:lpstr>Calibri</vt:lpstr>
      <vt:lpstr>微软雅黑</vt:lpstr>
      <vt:lpstr>Arial Unicode MS</vt:lpstr>
      <vt:lpstr>宋体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固定候选池 + Once：Baseline、原始Once与固定候选池对照</dc:title>
  <dc:creator>QoS Storage Simulation</dc:creator>
  <dc:description>generated using python-pptx</dc:description>
  <dc:subject>L3 fixed candidate pool routing, one-slide concept</dc:subject>
  <cp:lastModifiedBy>chguo</cp:lastModifiedBy>
  <cp:revision>5</cp:revision>
  <dcterms:created xsi:type="dcterms:W3CDTF">2026-09-09T00:31:30Z</dcterms:created>
  <dcterms:modified xsi:type="dcterms:W3CDTF">2026-09-09T00:31:30Z</dcterms:modified>
  <cp:keywords>Once per layer, QoS Path, SLO, static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