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6" r:id="rId5"/>
    <p:sldId id="259" r:id="rId6"/>
    <p:sldId id="258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guo" initials="c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概念示意，不是真实仿真数据；四个IO方块表示较高队列占用，一个表示较低占用。</a:t>
            </a:r>
          </a:p>
          <a:p>
            <a:r>
              <a:t>方块尺寸与颜色一致，表示同大小的已入Path未完成IO；箭头为本层即将下发的IO，尚未计入方块数量。本示例假定可比服务条件，实际压力还取决于CIR/PIR及活动状态，不是断言仅凭4与1即可精确预测等待时间。图中不单独展开正在服务和等待服务的IO。</a:t>
            </a:r>
          </a:p>
          <a:p>
            <a:r>
              <a:t>Once per layer对每个request-layer-ASU组合规划一次本层各IO的路径，不把NPU固定绑定到某个Path，也不表示一层只用一条Path。</a:t>
            </a:r>
          </a:p>
          <a:p>
            <a:r>
              <a:t>图中两个NPU当前处理的请求均为SS，故只能在各自目标ASU的SS允许Path集合中选路。类别由请求参数确定，不是NPU的永久属性；同一NPU后续处理其他类别请求时使用对应池。</a:t>
            </a:r>
          </a:p>
          <a:p>
            <a:r>
              <a:t>SS类可选Path框是逻辑集合，不是单独的硬件组。当前配置SS共有96条Path，跨8个硬件组；这里只展示实际合法的Path0/1/2。SL/LS/LL集合折叠显示，即使其Path空闲，当前SS请求也不能在该配置下跨类别选用。</a:t>
            </a:r>
          </a:p>
          <a:p>
            <a:r>
              <a:t>两图表示各NPU在不同层上的可能选择，不要求所有NPU同步换层。每层重新规划不等于必须更换路径，图中NPU1至ASU1的Path2保持不变。</a:t>
            </a:r>
          </a:p>
          <a:p>
            <a:r>
              <a:t>左图NPU0和NPU1都选择ASU0.Path0，展示Path共享。右图分别选择Path2、Path1。展示的Path0/1/2属于两个SS请求共同允许的集合；Path共享不等于跨类别任意选路。</a:t>
            </a:r>
          </a:p>
          <a:p>
            <a:r>
              <a:t>ASU0.Path0与ASU1.Path0是不同设备上的独立队列。选路不迁移数据、不改变目标ASU，也不会把已经入队的IO随下一幅图迁走。</a:t>
            </a:r>
          </a:p>
          <a:p>
            <a:r>
              <a:t>压力来自客户端可查询的采集状态；没有增加按层实时设备读取、CIR写入、全局预留账本或NPU重绑定，不混入New Once及后续新策略的能力。</a:t>
            </a:r>
          </a:p>
          <a:p>
            <a:r>
              <a:t>蓝色实线来自NPU0，灰色虚线来自NPU1；所有线条、框和文字可编辑。</a:t>
            </a:r>
          </a:p>
          <a:p>
            <a:r>
              <a:t>代码依据：shared_path_once.py；policy_logic.py中的允许Path集合及逐层IO规划。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固定候选池 + Once（static）</a:t>
            </a:r>
          </a:p>
          <a:p/>
          <a:p>
            <a:r>
              <a:t>参考：/home/chguo/work/once_per_layer_concept.pptx，第3页。</a:t>
            </a:r>
          </a:p>
          <a:p>
            <a:r>
              <a:t>沿用左右第L层/第L+1层、NPU到SSU折线、Path队列方块的表达。</a:t>
            </a:r>
          </a:p>
          <a:p>
            <a:r>
              <a:t>本页为说明机制的示意图，IO队列长度与箭头不是实测日志；只画部分Path和部分I/O。</a:t>
            </a:r>
          </a:p>
          <a:p>
            <a:r>
              <a:t>实验实际配置：32 NPU、3 SSU，每盘40 GiB/s；图中仅示意两张NPU与两块SSU，第三块同理。</a:t>
            </a:r>
          </a:p>
          <a:p/>
          <a:p>
            <a:r>
              <a:t>1. 新增的动作：上层使用本请求初始画像，决定候选Path范围。</a:t>
            </a:r>
          </a:p>
          <a:p>
            <a:r>
              <a:t>C为每层纯计算时间。8层请求的纯计算时间为8C，实验SLO预算为1.5×8C，初始等待预算为4C。</a:t>
            </a:r>
          </a:p>
          <a:p>
            <a:r>
              <a:t>均摊每层初始等待余量=(1.5×8C−8C)/8=C/2。</a:t>
            </a:r>
          </a:p>
          <a:p>
            <a:r>
              <a:t>通用收窄条件：C/2 &gt; max(6ms, 本层独占读取下界)。6ms是当前实验启发式参数。</a:t>
            </a:r>
          </a:p>
          <a:p>
            <a:r>
              <a:t>本次24画像的独占读取下界均小于6ms，所以本批数据可以简化为C&gt;12ms；不是C&gt;6ms，也不是通用阈值。</a:t>
            </a:r>
          </a:p>
          <a:p>
            <a:r>
              <a:t>独占读取下界(ms)=1000×max(max_d(V_d/40),sum_d(V_d)/50)，V_d单位GiB。</a:t>
            </a:r>
          </a:p>
          <a:p>
            <a:r>
              <a:t>它只是假设无他人竞争时的乐观物理下界，不代表实际独占，也不是实际完成时间预测。</a:t>
            </a:r>
          </a:p>
          <a:p>
            <a:r>
              <a:t>static每层沿用初始预算，不随截止临近而恢复全池；不能理解为动态判断实际紧急程度。</a:t>
            </a:r>
          </a:p>
          <a:p/>
          <a:p>
            <a:r>
              <a:t>2. 原类别池与固定池。</a:t>
            </a:r>
          </a:p>
          <a:p>
            <a:r>
              <a:t>每盘256条Path，8个硬件组，每组32条。组内SS/SL/LS/LL各12/4/12/4条。</a:t>
            </a:r>
          </a:p>
          <a:p>
            <a:r>
              <a:t>原类别全池分别96/32/96/32条。固定池从每组取该类别的第一条，合计8条。</a:t>
            </a:r>
          </a:p>
          <a:p>
            <a:r>
              <a:t>本页特意使用两个同属SL的真实data画像，避免把新增策略误认为原SS/SL分类。</a:t>
            </a:r>
          </a:p>
          <a:p>
            <a:r>
              <a:t>SL每盘32条候选Path；固定8条的全局ID为12,44,76,108,140,172,204,236。</a:t>
            </a:r>
          </a:p>
          <a:p>
            <a:r>
              <a:t>图中橙色Path12和Path44均为固定池成员，白色Path13是其余24条中的一条。</a:t>
            </a:r>
          </a:p>
          <a:p>
            <a:r>
              <a:t>NPU0：总长32K，miss1024，每层计算7.257231579079756ms，保留全池32条。</a:t>
            </a:r>
          </a:p>
          <a:p>
            <a:r>
              <a:t>NPU1：总长32K，miss4096，每层计算28.592841995880782ms，收窄为8条。</a:t>
            </a:r>
          </a:p>
          <a:p>
            <a:r>
              <a:t>数据来自../input_profile_summary.csv；总长包含miss部分，不额外相加。</a:t>
            </a:r>
          </a:p>
          <a:p>
            <a:r>
              <a:t>所有同盘同类收窄请求共用同一组8条，不是每NPU各自独享8条，也不是全系统总共只有8条。</a:t>
            </a:r>
          </a:p>
          <a:p>
            <a:r>
              <a:t>其余24条没有关闭、没有改CIR/PIR，已有IO正常服务，其他同类全池请求仍可使用。</a:t>
            </a:r>
          </a:p>
          <a:p/>
          <a:p>
            <a:r>
              <a:t>3. 原Once部分保持。</a:t>
            </a:r>
          </a:p>
          <a:p>
            <a:r>
              <a:t>盘侧每5ms采样的Path拥塞计数与已知QoS配置，输入原Once预计完成时间计算。</a:t>
            </a:r>
          </a:p>
          <a:p>
            <a:r>
              <a:t>每个请求/层/SSU调用一次规划；调用内部逐IO块选路，并更新本地影子计数。一层可以跨多条Path。</a:t>
            </a:r>
          </a:p>
          <a:p>
            <a:r>
              <a:t>图中蓝色实线为全池请求，能选择橙底或白底Path；橙色虚线为收窄请求，只能选择橙底Path。</a:t>
            </a:r>
          </a:p>
          <a:p>
            <a:r>
              <a:t>第L+1层候选范围不变，但队列变化，选择的具体Path可以变化。</a:t>
            </a:r>
          </a:p>
          <a:p>
            <a:r>
              <a:t>上层决定候选池，盘侧提供周期拥塞快照；Path内的已提交IO继续FIFO。</a:t>
            </a:r>
          </a:p>
          <a:p>
            <a:r>
              <a:t>未接纳的跨请求首层预取没有接纳时钟预算，使用原Once全池；本页主体画已接纳请求。</a:t>
            </a:r>
          </a:p>
          <a:p/>
          <a:p>
            <a:r>
              <a:t>4. 为什么可能改善SLO，以及边界。</a:t>
            </a:r>
          </a:p>
          <a:p>
            <a:r>
              <a:t>把初始等待余量较大的请求集中到较少的加权Path，可能让其他请求获得更多服务机会。</a:t>
            </a:r>
          </a:p>
          <a:p>
            <a:r>
              <a:t>本策略没有改变请求顺序，没有改FIFO，没有改变CIR/PIR，没有固定预留带宽，也不保证实际供给b_i达到需求B_i=V_i/C_i。</a:t>
            </a:r>
          </a:p>
          <a:p>
            <a:r>
              <a:t>候选池限制只是启发式服务机会调整，不保证每个请求TTFT达标，也不保证所有类别或NPU利用率都上升。</a:t>
            </a:r>
          </a:p>
          <a:p>
            <a:r>
              <a:t>实验主要SLO为“接纳到prefill完成 &lt;=1.5×纯计算时间”，不包含接纳前排队，也没有实际首token事件。</a:t>
            </a:r>
          </a:p>
          <a:p>
            <a:r>
              <a:t>已完成的持续过载3种子warm均值：baseline SLO40.30%，static76.96%；LL类别反而95.08%降至27.17%。</a:t>
            </a:r>
          </a:p>
          <a:p>
            <a:r>
              <a:t>因此“改善整体SLO”是目标与本次总体结果，不能表述成兼顾所有请求的无代价保证。</a:t>
            </a:r>
          </a:p>
          <a:p/>
          <a:p>
            <a:r>
              <a:t>实现核对：../policy.py中的upper_budget、choose_path_pool、install_policy。</a:t>
            </a:r>
          </a:p>
          <a:p>
            <a:r>
              <a:t>实验口径：../METHOD.md。数据与结果：../input_profile_summary.csv、../README.md。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785" y="212090"/>
            <a:ext cx="7022465" cy="54864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Once per layer：动态选择 QoS Path</a:t>
            </a:r>
            <a:endParaRPr lang="zh-CN" sz="280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362456"/>
            <a:ext cx="6181344" cy="38404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第 L 层</a:t>
            </a:r>
            <a:endParaRPr lang="zh-CN" sz="200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1" y="2660904"/>
            <a:ext cx="134416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3569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2660904"/>
            <a:ext cx="1344168" cy="603504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569A4"/>
                </a:solidFill>
                <a:latin typeface="Noto Sans CJK SC" panose="020B0500000000000000" charset="-122"/>
                <a:ea typeface="Noto Sans CJK SC" panose="020B0500000000000000" charset="-122"/>
              </a:rPr>
              <a:t>NPU0</a:t>
            </a:r>
            <a:endParaRPr lang="zh-CN" sz="1800" b="1">
              <a:solidFill>
                <a:srgbClr val="3569A4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1" y="3355848"/>
            <a:ext cx="1344168" cy="24688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当前请求：SS</a:t>
            </a:r>
            <a:endParaRPr lang="zh-CN" sz="11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231" y="4773168"/>
            <a:ext cx="134416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4773168"/>
            <a:ext cx="1344168" cy="603504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NPU1</a:t>
            </a:r>
            <a:endParaRPr lang="zh-CN" sz="1800" b="1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1" y="5468112"/>
            <a:ext cx="1344168" cy="24688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当前请求：SS</a:t>
            </a:r>
            <a:endParaRPr lang="zh-CN" sz="11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95928" y="1819656"/>
            <a:ext cx="2706624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879092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ASU0</a:t>
            </a:r>
            <a:endParaRPr lang="zh-CN"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05656" y="2167128"/>
            <a:ext cx="2487168" cy="1609344"/>
          </a:xfrm>
          <a:prstGeom prst="rect">
            <a:avLst/>
          </a:prstGeom>
          <a:solidFill>
            <a:srgbClr val="F8FAFC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2185416"/>
            <a:ext cx="230428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SS 类可选 Path（部分）</a:t>
            </a:r>
            <a:endParaRPr lang="zh-CN"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60520" y="2450591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450591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Path0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6" name="queued_io_s0_asu0_path0_0"/>
          <p:cNvSpPr/>
          <p:nvPr/>
        </p:nvSpPr>
        <p:spPr>
          <a:xfrm>
            <a:off x="5056631" y="2510027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251002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60520" y="2898648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8536" y="2898648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Path1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0" name="queued_io_s0_asu0_path1_0"/>
          <p:cNvSpPr/>
          <p:nvPr/>
        </p:nvSpPr>
        <p:spPr>
          <a:xfrm>
            <a:off x="5056631" y="295808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1" y="295808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2" name="queued_io_s0_asu0_path1_1"/>
          <p:cNvSpPr/>
          <p:nvPr/>
        </p:nvSpPr>
        <p:spPr>
          <a:xfrm>
            <a:off x="5404103" y="295808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4103" y="295808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4" name="queued_io_s0_asu0_path1_2"/>
          <p:cNvSpPr/>
          <p:nvPr/>
        </p:nvSpPr>
        <p:spPr>
          <a:xfrm>
            <a:off x="5751575" y="295808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5" y="295808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6" name="queued_io_s0_asu0_path1_3"/>
          <p:cNvSpPr/>
          <p:nvPr/>
        </p:nvSpPr>
        <p:spPr>
          <a:xfrm>
            <a:off x="6099048" y="295808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295808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160520" y="3346703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8536" y="3346703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Path2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0" name="queued_io_s0_asu0_path2_0"/>
          <p:cNvSpPr/>
          <p:nvPr/>
        </p:nvSpPr>
        <p:spPr>
          <a:xfrm>
            <a:off x="5056631" y="3406139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6631" y="3406139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2" name="queued_io_s0_asu0_path2_1"/>
          <p:cNvSpPr/>
          <p:nvPr/>
        </p:nvSpPr>
        <p:spPr>
          <a:xfrm>
            <a:off x="5404103" y="3406139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04103" y="3406139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4" name="queued_io_s0_asu0_path2_2"/>
          <p:cNvSpPr/>
          <p:nvPr/>
        </p:nvSpPr>
        <p:spPr>
          <a:xfrm>
            <a:off x="5751575" y="3406139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51575" y="3406139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6" name="queued_io_s0_asu0_path2_3"/>
          <p:cNvSpPr/>
          <p:nvPr/>
        </p:nvSpPr>
        <p:spPr>
          <a:xfrm>
            <a:off x="6099048" y="3406139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8" y="3406139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105656" y="3831336"/>
            <a:ext cx="2487168" cy="21945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05656" y="3831336"/>
            <a:ext cx="248716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其他类别：SL / LS / LL</a:t>
            </a:r>
            <a:endParaRPr lang="zh-CN" sz="10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95928" y="4379976"/>
            <a:ext cx="2706624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0520" y="4439412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ASU1</a:t>
            </a:r>
            <a:endParaRPr lang="zh-CN"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105656" y="4727448"/>
            <a:ext cx="2487168" cy="1609344"/>
          </a:xfrm>
          <a:prstGeom prst="rect">
            <a:avLst/>
          </a:prstGeom>
          <a:solidFill>
            <a:srgbClr val="F8FAFC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97096" y="4745736"/>
            <a:ext cx="230428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SS 类可选 Path（部分）</a:t>
            </a:r>
            <a:endParaRPr lang="zh-CN"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160520" y="5010912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88536" y="5010912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Path0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6" name="queued_io_s0_asu1_path0_0"/>
          <p:cNvSpPr/>
          <p:nvPr/>
        </p:nvSpPr>
        <p:spPr>
          <a:xfrm>
            <a:off x="5056631" y="5070348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56631" y="50703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8" name="queued_io_s0_asu1_path0_1"/>
          <p:cNvSpPr/>
          <p:nvPr/>
        </p:nvSpPr>
        <p:spPr>
          <a:xfrm>
            <a:off x="5404103" y="5070348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04103" y="50703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0" name="queued_io_s0_asu1_path0_2"/>
          <p:cNvSpPr/>
          <p:nvPr/>
        </p:nvSpPr>
        <p:spPr>
          <a:xfrm>
            <a:off x="5751575" y="5070348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51575" y="50703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2" name="queued_io_s0_asu1_path0_3"/>
          <p:cNvSpPr/>
          <p:nvPr/>
        </p:nvSpPr>
        <p:spPr>
          <a:xfrm>
            <a:off x="6099048" y="5070348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9048" y="50703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160520" y="5458968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88536" y="5458968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Path1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6" name="queued_io_s0_asu1_path1_0"/>
          <p:cNvSpPr/>
          <p:nvPr/>
        </p:nvSpPr>
        <p:spPr>
          <a:xfrm>
            <a:off x="5056631" y="551840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56631" y="55184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160520" y="5907024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88536" y="5907024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Path2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60" name="queued_io_s0_asu1_path2_0"/>
          <p:cNvSpPr/>
          <p:nvPr/>
        </p:nvSpPr>
        <p:spPr>
          <a:xfrm>
            <a:off x="5056631" y="5966460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56631" y="596646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105656" y="6391656"/>
            <a:ext cx="2487168" cy="21945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05656" y="6391656"/>
            <a:ext cx="248716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其他类别：SL / LS / LL</a:t>
            </a:r>
            <a:endParaRPr lang="zh-CN" sz="10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2057400" y="2852928"/>
            <a:ext cx="621791" cy="0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2679191" y="2583179"/>
            <a:ext cx="0" cy="269749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2679191" y="2583179"/>
            <a:ext cx="1481329" cy="0"/>
          </a:xfrm>
          <a:prstGeom prst="line">
            <a:avLst/>
          </a:prstGeom>
          <a:ln w="20955">
            <a:solidFill>
              <a:srgbClr val="3569A4"/>
            </a:solidFill>
            <a:tailEnd type="triangle" w="sm" len="sm"/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057400" y="4965192"/>
            <a:ext cx="1463039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3520439" y="2711195"/>
            <a:ext cx="0" cy="2253997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3520439" y="2711195"/>
            <a:ext cx="640081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  <a:tailEnd type="triangle" w="sm" len="sm"/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2057400" y="3081528"/>
            <a:ext cx="374904" cy="0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2432304" y="3081528"/>
            <a:ext cx="0" cy="2574036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2432304" y="5655564"/>
            <a:ext cx="1728216" cy="0"/>
          </a:xfrm>
          <a:prstGeom prst="line">
            <a:avLst/>
          </a:prstGeom>
          <a:ln w="20955">
            <a:solidFill>
              <a:srgbClr val="3569A4"/>
            </a:solidFill>
            <a:tailEnd type="triangle" w="sm" len="sm"/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057400" y="5312664"/>
            <a:ext cx="1069848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3127248" y="5312664"/>
            <a:ext cx="0" cy="790956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3127248" y="6103620"/>
            <a:ext cx="1033272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  <a:tailEnd type="triangle" w="sm" len="sm"/>
          </a:ln>
          <a:effectLst/>
        </p:spPr>
      </p:cxnSp>
      <p:sp>
        <p:nvSpPr>
          <p:cNvPr id="76" name="TextBox 75"/>
          <p:cNvSpPr txBox="1"/>
          <p:nvPr/>
        </p:nvSpPr>
        <p:spPr>
          <a:xfrm>
            <a:off x="7818120" y="1362456"/>
            <a:ext cx="6181344" cy="38404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第 L+1 层</a:t>
            </a:r>
            <a:endParaRPr lang="zh-CN" sz="200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891272" y="2660904"/>
            <a:ext cx="134416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3569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91272" y="2660904"/>
            <a:ext cx="1344168" cy="603504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569A4"/>
                </a:solidFill>
                <a:latin typeface="Noto Sans CJK SC" panose="020B0500000000000000" charset="-122"/>
                <a:ea typeface="Noto Sans CJK SC" panose="020B0500000000000000" charset="-122"/>
              </a:rPr>
              <a:t>NPU0</a:t>
            </a:r>
            <a:endParaRPr lang="zh-CN" sz="1800" b="1">
              <a:solidFill>
                <a:srgbClr val="3569A4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891272" y="3355848"/>
            <a:ext cx="1344168" cy="24688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当前请求：SS</a:t>
            </a:r>
            <a:endParaRPr lang="zh-CN" sz="11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7891272" y="4773168"/>
            <a:ext cx="134416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91272" y="4773168"/>
            <a:ext cx="1344168" cy="603504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NPU1</a:t>
            </a:r>
            <a:endParaRPr lang="zh-CN" sz="1800" b="1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91272" y="5468112"/>
            <a:ext cx="1344168" cy="24688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当前请求：SS</a:t>
            </a:r>
            <a:endParaRPr lang="zh-CN" sz="11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1173968" y="1819656"/>
            <a:ext cx="2706624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338560" y="1879092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ASU0</a:t>
            </a:r>
            <a:endParaRPr lang="zh-CN"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1283696" y="2167128"/>
            <a:ext cx="2487168" cy="1609344"/>
          </a:xfrm>
          <a:prstGeom prst="rect">
            <a:avLst/>
          </a:prstGeom>
          <a:solidFill>
            <a:srgbClr val="F8FAFC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375136" y="2185416"/>
            <a:ext cx="230428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SS 类可选 Path（部分）</a:t>
            </a:r>
            <a:endParaRPr lang="zh-CN"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1338560" y="2450591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466576" y="2450591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Path0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9" name="queued_io_s1_asu0_path0_0"/>
          <p:cNvSpPr/>
          <p:nvPr/>
        </p:nvSpPr>
        <p:spPr>
          <a:xfrm>
            <a:off x="12234672" y="2510027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234672" y="251002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1" name="queued_io_s1_asu0_path0_1"/>
          <p:cNvSpPr/>
          <p:nvPr/>
        </p:nvSpPr>
        <p:spPr>
          <a:xfrm>
            <a:off x="12582144" y="2510027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582144" y="251002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3" name="queued_io_s1_asu0_path0_2"/>
          <p:cNvSpPr/>
          <p:nvPr/>
        </p:nvSpPr>
        <p:spPr>
          <a:xfrm>
            <a:off x="12929616" y="2510027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929616" y="251002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5" name="queued_io_s1_asu0_path0_3"/>
          <p:cNvSpPr/>
          <p:nvPr/>
        </p:nvSpPr>
        <p:spPr>
          <a:xfrm>
            <a:off x="13277088" y="2510027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3277088" y="251002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1338560" y="2898648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466576" y="2898648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Path1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9" name="queued_io_s1_asu0_path1_0"/>
          <p:cNvSpPr/>
          <p:nvPr/>
        </p:nvSpPr>
        <p:spPr>
          <a:xfrm>
            <a:off x="12234672" y="295808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2234672" y="295808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1338560" y="3346703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466576" y="3346703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Path2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3" name="queued_io_s1_asu0_path2_0"/>
          <p:cNvSpPr/>
          <p:nvPr/>
        </p:nvSpPr>
        <p:spPr>
          <a:xfrm>
            <a:off x="12234672" y="3406139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2234672" y="3406139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1283696" y="3831336"/>
            <a:ext cx="2487168" cy="21945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283696" y="3831336"/>
            <a:ext cx="248716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其他类别：SL / LS / LL</a:t>
            </a:r>
            <a:endParaRPr lang="zh-CN" sz="10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1173968" y="4379976"/>
            <a:ext cx="2706624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338560" y="4439412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ASU1</a:t>
            </a:r>
            <a:endParaRPr lang="zh-CN"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11283696" y="4727448"/>
            <a:ext cx="2487168" cy="1609344"/>
          </a:xfrm>
          <a:prstGeom prst="rect">
            <a:avLst/>
          </a:prstGeom>
          <a:solidFill>
            <a:srgbClr val="F8FAFC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375136" y="4745736"/>
            <a:ext cx="230428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SS 类可选 Path（部分）</a:t>
            </a:r>
            <a:endParaRPr lang="zh-CN"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1338560" y="5010912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466576" y="5010912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Path0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3" name="queued_io_s1_asu1_path0_0"/>
          <p:cNvSpPr/>
          <p:nvPr/>
        </p:nvSpPr>
        <p:spPr>
          <a:xfrm>
            <a:off x="12234672" y="5070348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234672" y="50703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1338560" y="5458968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466576" y="5458968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Path1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7" name="queued_io_s1_asu1_path1_0"/>
          <p:cNvSpPr/>
          <p:nvPr/>
        </p:nvSpPr>
        <p:spPr>
          <a:xfrm>
            <a:off x="12234672" y="551840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2234672" y="55184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9" name="queued_io_s1_asu1_path1_1"/>
          <p:cNvSpPr/>
          <p:nvPr/>
        </p:nvSpPr>
        <p:spPr>
          <a:xfrm>
            <a:off x="12582144" y="551840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582144" y="55184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1" name="queued_io_s1_asu1_path1_2"/>
          <p:cNvSpPr/>
          <p:nvPr/>
        </p:nvSpPr>
        <p:spPr>
          <a:xfrm>
            <a:off x="12929616" y="551840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2929616" y="55184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3" name="queued_io_s1_asu1_path1_3"/>
          <p:cNvSpPr/>
          <p:nvPr/>
        </p:nvSpPr>
        <p:spPr>
          <a:xfrm>
            <a:off x="13277088" y="551840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277088" y="55184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11338560" y="5907024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466576" y="5907024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Path2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7" name="queued_io_s1_asu1_path2_0"/>
          <p:cNvSpPr/>
          <p:nvPr/>
        </p:nvSpPr>
        <p:spPr>
          <a:xfrm>
            <a:off x="12234672" y="5966460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234672" y="596646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1283696" y="6391656"/>
            <a:ext cx="2487168" cy="21945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283696" y="6391656"/>
            <a:ext cx="248716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其他类别：SL / LS / LL</a:t>
            </a:r>
            <a:endParaRPr lang="zh-CN" sz="10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cxnSp>
        <p:nvCxnSpPr>
          <p:cNvPr id="131" name="Connector 130"/>
          <p:cNvCxnSpPr/>
          <p:nvPr/>
        </p:nvCxnSpPr>
        <p:spPr>
          <a:xfrm>
            <a:off x="9235440" y="2852928"/>
            <a:ext cx="621792" cy="0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9857232" y="2852928"/>
            <a:ext cx="0" cy="690371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9857232" y="3543299"/>
            <a:ext cx="1481328" cy="0"/>
          </a:xfrm>
          <a:prstGeom prst="line">
            <a:avLst/>
          </a:prstGeom>
          <a:ln w="20955">
            <a:solidFill>
              <a:srgbClr val="3569A4"/>
            </a:solidFill>
            <a:tailEnd type="triangle" w="sm" len="sm"/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9235440" y="4965192"/>
            <a:ext cx="1463040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10698480" y="3095244"/>
            <a:ext cx="0" cy="1869948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10698480" y="3095244"/>
            <a:ext cx="640080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  <a:tailEnd type="triangle" w="sm" len="sm"/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9235440" y="3081528"/>
            <a:ext cx="374904" cy="0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9610344" y="3081528"/>
            <a:ext cx="0" cy="2125980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9610344" y="5207508"/>
            <a:ext cx="1728216" cy="0"/>
          </a:xfrm>
          <a:prstGeom prst="line">
            <a:avLst/>
          </a:prstGeom>
          <a:ln w="20955">
            <a:solidFill>
              <a:srgbClr val="3569A4"/>
            </a:solidFill>
            <a:tailEnd type="triangle" w="sm" len="sm"/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9235440" y="5312664"/>
            <a:ext cx="1069848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10305288" y="5312664"/>
            <a:ext cx="0" cy="790956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10305288" y="6103620"/>
            <a:ext cx="1033272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  <a:tailEnd type="triangle" w="sm" len="sm"/>
          </a:ln>
          <a:effectLst/>
        </p:spPr>
      </p:cxnSp>
      <p:sp>
        <p:nvSpPr>
          <p:cNvPr id="143" name="Rectangle 142"/>
          <p:cNvSpPr/>
          <p:nvPr/>
        </p:nvSpPr>
        <p:spPr>
          <a:xfrm>
            <a:off x="7306056" y="1380744"/>
            <a:ext cx="5486" cy="523036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805555" y="7137400"/>
            <a:ext cx="8337550" cy="36576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先按请求类别确定 Path 池，再在池内按层动态选路；NPU 与具体 Path 不固定绑定。</a:t>
            </a:r>
            <a:endParaRPr lang="zh-CN" sz="17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固定候选池 + Once：先限定范围，再按层选路"/>
          <p:cNvSpPr txBox="1"/>
          <p:nvPr/>
        </p:nvSpPr>
        <p:spPr>
          <a:xfrm>
            <a:off x="438912" y="210312"/>
            <a:ext cx="13761720" cy="5669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固定候选池 + Once：先限定范围，再按层选路</a:t>
            </a:r>
            <a:endParaRPr sz="280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3" name="本次24种画像的已接纳请求：每层计算 C &gt; 12 ms → 固定8条/盘；否则 → 原类别全池"/>
          <p:cNvSpPr txBox="1"/>
          <p:nvPr/>
        </p:nvSpPr>
        <p:spPr>
          <a:xfrm>
            <a:off x="530352" y="978408"/>
            <a:ext cx="13716000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本次24种画像的已接纳请求：每层计算 C &gt; 12 ms → 固定8条/盘；否则 → 原类别全池（本例 SL 为32条/盘）。</a:t>
            </a:r>
            <a:endParaRPr sz="16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4" name="SLO = 1.5 × 纯计算时间 → 初始每层等待余量 = C / 2；C 越长，初始可等待的"/>
          <p:cNvSpPr txBox="1"/>
          <p:nvPr/>
        </p:nvSpPr>
        <p:spPr>
          <a:xfrm>
            <a:off x="530352" y="1353312"/>
            <a:ext cx="13716000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SLO = 1.5 × 纯计算时间 → 初始每层等待余量 = C / 2；C 越长，初始可等待的时间也越长。</a:t>
            </a:r>
            <a:endParaRPr sz="124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7306056" y="1627632"/>
            <a:ext cx="0" cy="5129784"/>
          </a:xfrm>
          <a:prstGeom prst="line">
            <a:avLst/>
          </a:prstGeom>
          <a:ln w="825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第 L 层"/>
          <p:cNvSpPr txBox="1"/>
          <p:nvPr/>
        </p:nvSpPr>
        <p:spPr>
          <a:xfrm>
            <a:off x="640080" y="1636776"/>
            <a:ext cx="2103120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第 L 层</a:t>
            </a:r>
            <a:endParaRPr sz="200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" name="先确定候选池，再按拥塞选路"/>
          <p:cNvSpPr txBox="1"/>
          <p:nvPr/>
        </p:nvSpPr>
        <p:spPr>
          <a:xfrm>
            <a:off x="2862072" y="1700784"/>
            <a:ext cx="3904487" cy="246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先确定候选池，再按拥塞选路</a:t>
            </a:r>
            <a:endParaRPr sz="12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8" name="panel_0.0_SSU0"/>
          <p:cNvSpPr/>
          <p:nvPr/>
        </p:nvSpPr>
        <p:spPr>
          <a:xfrm>
            <a:off x="3840480" y="1993392"/>
            <a:ext cx="2926080" cy="2267712"/>
          </a:xfrm>
          <a:prstGeom prst="rect">
            <a:avLst/>
          </a:prstGeom>
          <a:solidFill>
            <a:srgbClr val="FFFFFF"/>
          </a:solidFill>
          <a:ln w="825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SU0"/>
          <p:cNvSpPr txBox="1"/>
          <p:nvPr/>
        </p:nvSpPr>
        <p:spPr>
          <a:xfrm>
            <a:off x="3986784" y="2066544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SSU0</a:t>
            </a:r>
            <a:endParaRPr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0" name="SL 类：32 条 Path（仅画 3 条）"/>
          <p:cNvSpPr txBox="1"/>
          <p:nvPr/>
        </p:nvSpPr>
        <p:spPr>
          <a:xfrm>
            <a:off x="3986784" y="2404872"/>
            <a:ext cx="2651760" cy="246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SL 类：32 条 Path（仅画 3 条）</a:t>
            </a:r>
            <a:endParaRPr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1" name="panel_0.0_ssu_0_path_12_candidate_True"/>
          <p:cNvSpPr/>
          <p:nvPr/>
        </p:nvSpPr>
        <p:spPr>
          <a:xfrm>
            <a:off x="3959352" y="2743200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th12"/>
          <p:cNvSpPr txBox="1"/>
          <p:nvPr/>
        </p:nvSpPr>
        <p:spPr>
          <a:xfrm>
            <a:off x="4087368" y="2756916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Path12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3" name="box_12"/>
          <p:cNvSpPr/>
          <p:nvPr/>
        </p:nvSpPr>
        <p:spPr>
          <a:xfrm>
            <a:off x="4992624" y="28026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O"/>
          <p:cNvSpPr txBox="1"/>
          <p:nvPr/>
        </p:nvSpPr>
        <p:spPr>
          <a:xfrm>
            <a:off x="4992624" y="2802636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5" name="box_14"/>
          <p:cNvSpPr/>
          <p:nvPr/>
        </p:nvSpPr>
        <p:spPr>
          <a:xfrm>
            <a:off x="5349240" y="28026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O"/>
          <p:cNvSpPr txBox="1"/>
          <p:nvPr/>
        </p:nvSpPr>
        <p:spPr>
          <a:xfrm>
            <a:off x="5349240" y="2802636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7" name="box_16"/>
          <p:cNvSpPr/>
          <p:nvPr/>
        </p:nvSpPr>
        <p:spPr>
          <a:xfrm>
            <a:off x="5705856" y="28026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O"/>
          <p:cNvSpPr txBox="1"/>
          <p:nvPr/>
        </p:nvSpPr>
        <p:spPr>
          <a:xfrm>
            <a:off x="5705856" y="2802636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9" name="box_18"/>
          <p:cNvSpPr/>
          <p:nvPr/>
        </p:nvSpPr>
        <p:spPr>
          <a:xfrm>
            <a:off x="6062472" y="28026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O"/>
          <p:cNvSpPr txBox="1"/>
          <p:nvPr/>
        </p:nvSpPr>
        <p:spPr>
          <a:xfrm>
            <a:off x="6062472" y="2802636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21" name="panel_0.0_ssu_0_path_13_candidate_False"/>
          <p:cNvSpPr/>
          <p:nvPr/>
        </p:nvSpPr>
        <p:spPr>
          <a:xfrm>
            <a:off x="3959352" y="3191256"/>
            <a:ext cx="2688336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th13"/>
          <p:cNvSpPr txBox="1"/>
          <p:nvPr/>
        </p:nvSpPr>
        <p:spPr>
          <a:xfrm>
            <a:off x="4087368" y="3204972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Path13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23" name="box_22"/>
          <p:cNvSpPr/>
          <p:nvPr/>
        </p:nvSpPr>
        <p:spPr>
          <a:xfrm>
            <a:off x="4992624" y="32506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O"/>
          <p:cNvSpPr txBox="1"/>
          <p:nvPr/>
        </p:nvSpPr>
        <p:spPr>
          <a:xfrm>
            <a:off x="4992624" y="3250692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25" name="panel_0.0_ssu_0_path_44_candidate_True"/>
          <p:cNvSpPr/>
          <p:nvPr/>
        </p:nvSpPr>
        <p:spPr>
          <a:xfrm>
            <a:off x="3959352" y="3639312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th44"/>
          <p:cNvSpPr txBox="1"/>
          <p:nvPr/>
        </p:nvSpPr>
        <p:spPr>
          <a:xfrm>
            <a:off x="4087368" y="3653028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Path44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27" name="box_26"/>
          <p:cNvSpPr/>
          <p:nvPr/>
        </p:nvSpPr>
        <p:spPr>
          <a:xfrm>
            <a:off x="4992624" y="36987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O"/>
          <p:cNvSpPr txBox="1"/>
          <p:nvPr/>
        </p:nvSpPr>
        <p:spPr>
          <a:xfrm>
            <a:off x="4992624" y="36987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29" name="box_28"/>
          <p:cNvSpPr/>
          <p:nvPr/>
        </p:nvSpPr>
        <p:spPr>
          <a:xfrm>
            <a:off x="5349240" y="36987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O"/>
          <p:cNvSpPr txBox="1"/>
          <p:nvPr/>
        </p:nvSpPr>
        <p:spPr>
          <a:xfrm>
            <a:off x="5349240" y="36987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31" name="每盘独立选路 · Path 内部 FIFO"/>
          <p:cNvSpPr txBox="1"/>
          <p:nvPr/>
        </p:nvSpPr>
        <p:spPr>
          <a:xfrm>
            <a:off x="3986784" y="4082796"/>
            <a:ext cx="2651760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每盘独立选路 · Path 内部 FIFO</a:t>
            </a:r>
            <a:endParaRPr sz="98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32" name="panel_0.0_SSU1"/>
          <p:cNvSpPr/>
          <p:nvPr/>
        </p:nvSpPr>
        <p:spPr>
          <a:xfrm>
            <a:off x="3840480" y="4480560"/>
            <a:ext cx="2926080" cy="2267712"/>
          </a:xfrm>
          <a:prstGeom prst="rect">
            <a:avLst/>
          </a:prstGeom>
          <a:solidFill>
            <a:srgbClr val="FFFFFF"/>
          </a:solidFill>
          <a:ln w="825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SU1"/>
          <p:cNvSpPr txBox="1"/>
          <p:nvPr/>
        </p:nvSpPr>
        <p:spPr>
          <a:xfrm>
            <a:off x="3986784" y="4553712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SSU1</a:t>
            </a:r>
            <a:endParaRPr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34" name="SL 类：32 条 Path（仅画 3 条）"/>
          <p:cNvSpPr txBox="1"/>
          <p:nvPr/>
        </p:nvSpPr>
        <p:spPr>
          <a:xfrm>
            <a:off x="3986784" y="4892040"/>
            <a:ext cx="2651760" cy="246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SL 类：32 条 Path（仅画 3 条）</a:t>
            </a:r>
            <a:endParaRPr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35" name="panel_0.0_ssu_1_path_12_candidate_True"/>
          <p:cNvSpPr/>
          <p:nvPr/>
        </p:nvSpPr>
        <p:spPr>
          <a:xfrm>
            <a:off x="3959352" y="5230368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th12"/>
          <p:cNvSpPr txBox="1"/>
          <p:nvPr/>
        </p:nvSpPr>
        <p:spPr>
          <a:xfrm>
            <a:off x="4087368" y="5244084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Path12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37" name="box_36"/>
          <p:cNvSpPr/>
          <p:nvPr/>
        </p:nvSpPr>
        <p:spPr>
          <a:xfrm>
            <a:off x="4992624" y="5289804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O"/>
          <p:cNvSpPr txBox="1"/>
          <p:nvPr/>
        </p:nvSpPr>
        <p:spPr>
          <a:xfrm>
            <a:off x="4992624" y="52898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39" name="box_38"/>
          <p:cNvSpPr/>
          <p:nvPr/>
        </p:nvSpPr>
        <p:spPr>
          <a:xfrm>
            <a:off x="5349240" y="5289804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O"/>
          <p:cNvSpPr txBox="1"/>
          <p:nvPr/>
        </p:nvSpPr>
        <p:spPr>
          <a:xfrm>
            <a:off x="5349240" y="52898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41" name="panel_0.0_ssu_1_path_13_candidate_False"/>
          <p:cNvSpPr/>
          <p:nvPr/>
        </p:nvSpPr>
        <p:spPr>
          <a:xfrm>
            <a:off x="3959352" y="5678424"/>
            <a:ext cx="2688336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th13"/>
          <p:cNvSpPr txBox="1"/>
          <p:nvPr/>
        </p:nvSpPr>
        <p:spPr>
          <a:xfrm>
            <a:off x="4087368" y="5692140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Path13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43" name="box_42"/>
          <p:cNvSpPr/>
          <p:nvPr/>
        </p:nvSpPr>
        <p:spPr>
          <a:xfrm>
            <a:off x="4992624" y="5737860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O"/>
          <p:cNvSpPr txBox="1"/>
          <p:nvPr/>
        </p:nvSpPr>
        <p:spPr>
          <a:xfrm>
            <a:off x="4992624" y="573786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45" name="box_44"/>
          <p:cNvSpPr/>
          <p:nvPr/>
        </p:nvSpPr>
        <p:spPr>
          <a:xfrm>
            <a:off x="5349240" y="5737860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O"/>
          <p:cNvSpPr txBox="1"/>
          <p:nvPr/>
        </p:nvSpPr>
        <p:spPr>
          <a:xfrm>
            <a:off x="5349240" y="573786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47" name="box_46"/>
          <p:cNvSpPr/>
          <p:nvPr/>
        </p:nvSpPr>
        <p:spPr>
          <a:xfrm>
            <a:off x="5705856" y="5737860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O"/>
          <p:cNvSpPr txBox="1"/>
          <p:nvPr/>
        </p:nvSpPr>
        <p:spPr>
          <a:xfrm>
            <a:off x="5705856" y="573786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49" name="box_48"/>
          <p:cNvSpPr/>
          <p:nvPr/>
        </p:nvSpPr>
        <p:spPr>
          <a:xfrm>
            <a:off x="6062472" y="5737860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O"/>
          <p:cNvSpPr txBox="1"/>
          <p:nvPr/>
        </p:nvSpPr>
        <p:spPr>
          <a:xfrm>
            <a:off x="6062472" y="573786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51" name="panel_0.0_ssu_1_path_44_candidate_True"/>
          <p:cNvSpPr/>
          <p:nvPr/>
        </p:nvSpPr>
        <p:spPr>
          <a:xfrm>
            <a:off x="3959352" y="6126480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th44"/>
          <p:cNvSpPr txBox="1"/>
          <p:nvPr/>
        </p:nvSpPr>
        <p:spPr>
          <a:xfrm>
            <a:off x="4087368" y="6140196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Path44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53" name="box_52"/>
          <p:cNvSpPr/>
          <p:nvPr/>
        </p:nvSpPr>
        <p:spPr>
          <a:xfrm>
            <a:off x="4992624" y="618591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O"/>
          <p:cNvSpPr txBox="1"/>
          <p:nvPr/>
        </p:nvSpPr>
        <p:spPr>
          <a:xfrm>
            <a:off x="4992624" y="6185916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55" name="每盘独立选路 · Path 内部 FIFO"/>
          <p:cNvSpPr txBox="1"/>
          <p:nvPr/>
        </p:nvSpPr>
        <p:spPr>
          <a:xfrm>
            <a:off x="3986784" y="6569964"/>
            <a:ext cx="2651760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每盘独立选路 · Path 内部 FIFO</a:t>
            </a:r>
            <a:endParaRPr sz="98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56" name="box_55"/>
          <p:cNvSpPr/>
          <p:nvPr/>
        </p:nvSpPr>
        <p:spPr>
          <a:xfrm>
            <a:off x="694944" y="2807208"/>
            <a:ext cx="1472184" cy="585216"/>
          </a:xfrm>
          <a:prstGeom prst="rect">
            <a:avLst/>
          </a:prstGeom>
          <a:solidFill>
            <a:srgbClr val="FFFFFF"/>
          </a:solidFill>
          <a:ln w="10795">
            <a:solidFill>
              <a:srgbClr val="35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PU0"/>
          <p:cNvSpPr txBox="1"/>
          <p:nvPr/>
        </p:nvSpPr>
        <p:spPr>
          <a:xfrm>
            <a:off x="694944" y="2807208"/>
            <a:ext cx="1472184" cy="5852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569A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NPU0</a:t>
            </a:r>
            <a:endParaRPr sz="1800" b="1">
              <a:solidFill>
                <a:srgbClr val="3569A4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58" name="SL · 总长32K / miss1K"/>
          <p:cNvSpPr txBox="1"/>
          <p:nvPr/>
        </p:nvSpPr>
        <p:spPr>
          <a:xfrm>
            <a:off x="402336" y="3493008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SL · 总长32K / miss1K</a:t>
            </a:r>
            <a:endParaRPr sz="112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59" name="每层计算 7.26 ms"/>
          <p:cNvSpPr txBox="1"/>
          <p:nvPr/>
        </p:nvSpPr>
        <p:spPr>
          <a:xfrm>
            <a:off x="402336" y="3749039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每层计算 7.26 ms</a:t>
            </a:r>
            <a:endParaRPr sz="12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0" name="保留全池：32条/盘"/>
          <p:cNvSpPr txBox="1"/>
          <p:nvPr/>
        </p:nvSpPr>
        <p:spPr>
          <a:xfrm>
            <a:off x="402336" y="4005072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9A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保留全池：32条/盘</a:t>
            </a:r>
            <a:endParaRPr sz="1200" b="1">
              <a:solidFill>
                <a:srgbClr val="3569A4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1" name="box_60"/>
          <p:cNvSpPr/>
          <p:nvPr/>
        </p:nvSpPr>
        <p:spPr>
          <a:xfrm>
            <a:off x="694944" y="5276088"/>
            <a:ext cx="1472184" cy="585216"/>
          </a:xfrm>
          <a:prstGeom prst="rect">
            <a:avLst/>
          </a:prstGeom>
          <a:solidFill>
            <a:srgbClr val="FFFFFF"/>
          </a:solidFill>
          <a:ln w="10795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NPU1"/>
          <p:cNvSpPr txBox="1"/>
          <p:nvPr/>
        </p:nvSpPr>
        <p:spPr>
          <a:xfrm>
            <a:off x="694944" y="5276088"/>
            <a:ext cx="1472184" cy="5852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4662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NPU1</a:t>
            </a:r>
            <a:endParaRPr sz="1800" b="1">
              <a:solidFill>
                <a:srgbClr val="B4662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3" name="SL · 总长32K / miss4K"/>
          <p:cNvSpPr txBox="1"/>
          <p:nvPr/>
        </p:nvSpPr>
        <p:spPr>
          <a:xfrm>
            <a:off x="402336" y="5961888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SL · 总长32K / miss4K</a:t>
            </a:r>
            <a:endParaRPr sz="112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4" name="每层计算 28.59 ms"/>
          <p:cNvSpPr txBox="1"/>
          <p:nvPr/>
        </p:nvSpPr>
        <p:spPr>
          <a:xfrm>
            <a:off x="402336" y="6217920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每层计算 28.59 ms</a:t>
            </a:r>
            <a:endParaRPr sz="12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5" name="固定池：8条/盘"/>
          <p:cNvSpPr txBox="1"/>
          <p:nvPr/>
        </p:nvSpPr>
        <p:spPr>
          <a:xfrm>
            <a:off x="402336" y="6473952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662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固定池：8条/盘</a:t>
            </a:r>
            <a:endParaRPr sz="1200" b="1">
              <a:solidFill>
                <a:srgbClr val="B4662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2167128" y="2962656"/>
            <a:ext cx="594360" cy="0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761488" y="2962656"/>
            <a:ext cx="0" cy="425196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761488" y="3387852"/>
            <a:ext cx="1197864" cy="0"/>
          </a:xfrm>
          <a:prstGeom prst="line">
            <a:avLst/>
          </a:prstGeom>
          <a:ln w="19685">
            <a:solidFill>
              <a:srgbClr val="3569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167128" y="3236976"/>
            <a:ext cx="438912" cy="0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606040" y="3236976"/>
            <a:ext cx="0" cy="3086100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606040" y="6323076"/>
            <a:ext cx="1353312" cy="0"/>
          </a:xfrm>
          <a:prstGeom prst="line">
            <a:avLst/>
          </a:prstGeom>
          <a:ln w="19685">
            <a:solidFill>
              <a:srgbClr val="3569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167128" y="5431536"/>
            <a:ext cx="1207008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374136" y="3835908"/>
            <a:ext cx="0" cy="1595628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374136" y="3835908"/>
            <a:ext cx="585216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167128" y="5696712"/>
            <a:ext cx="1014984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182112" y="5426964"/>
            <a:ext cx="0" cy="269748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182112" y="5426964"/>
            <a:ext cx="777240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第 L+1 层"/>
          <p:cNvSpPr txBox="1"/>
          <p:nvPr/>
        </p:nvSpPr>
        <p:spPr>
          <a:xfrm>
            <a:off x="7818119" y="1636776"/>
            <a:ext cx="2103120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第 L+1 层</a:t>
            </a:r>
            <a:endParaRPr sz="200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9" name="候选池不变，重新按拥塞选路"/>
          <p:cNvSpPr txBox="1"/>
          <p:nvPr/>
        </p:nvSpPr>
        <p:spPr>
          <a:xfrm>
            <a:off x="10040112" y="1700784"/>
            <a:ext cx="3904487" cy="246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候选池不变，重新按拥塞选路</a:t>
            </a:r>
            <a:endParaRPr sz="12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80" name="panel_7.85_SSU0"/>
          <p:cNvSpPr/>
          <p:nvPr/>
        </p:nvSpPr>
        <p:spPr>
          <a:xfrm>
            <a:off x="11018520" y="1993392"/>
            <a:ext cx="2926080" cy="2267712"/>
          </a:xfrm>
          <a:prstGeom prst="rect">
            <a:avLst/>
          </a:prstGeom>
          <a:solidFill>
            <a:srgbClr val="FFFFFF"/>
          </a:solidFill>
          <a:ln w="825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SU0"/>
          <p:cNvSpPr txBox="1"/>
          <p:nvPr/>
        </p:nvSpPr>
        <p:spPr>
          <a:xfrm>
            <a:off x="11164824" y="2066544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SSU0</a:t>
            </a:r>
            <a:endParaRPr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82" name="SL 类：32 条 Path（仅画 3 条）"/>
          <p:cNvSpPr txBox="1"/>
          <p:nvPr/>
        </p:nvSpPr>
        <p:spPr>
          <a:xfrm>
            <a:off x="11164824" y="2404872"/>
            <a:ext cx="2651760" cy="246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SL 类：32 条 Path（仅画 3 条）</a:t>
            </a:r>
            <a:endParaRPr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83" name="panel_7.85_ssu_0_path_12_candidate_True"/>
          <p:cNvSpPr/>
          <p:nvPr/>
        </p:nvSpPr>
        <p:spPr>
          <a:xfrm>
            <a:off x="11137392" y="2743200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Path12"/>
          <p:cNvSpPr txBox="1"/>
          <p:nvPr/>
        </p:nvSpPr>
        <p:spPr>
          <a:xfrm>
            <a:off x="11265408" y="2756916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Path12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85" name="box_84"/>
          <p:cNvSpPr/>
          <p:nvPr/>
        </p:nvSpPr>
        <p:spPr>
          <a:xfrm>
            <a:off x="12170664" y="280263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IO"/>
          <p:cNvSpPr txBox="1"/>
          <p:nvPr/>
        </p:nvSpPr>
        <p:spPr>
          <a:xfrm>
            <a:off x="12170664" y="2802636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87" name="panel_7.85_ssu_0_path_13_candidate_False"/>
          <p:cNvSpPr/>
          <p:nvPr/>
        </p:nvSpPr>
        <p:spPr>
          <a:xfrm>
            <a:off x="11137392" y="3191256"/>
            <a:ext cx="2688336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ath13"/>
          <p:cNvSpPr txBox="1"/>
          <p:nvPr/>
        </p:nvSpPr>
        <p:spPr>
          <a:xfrm>
            <a:off x="11265408" y="3204972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Path13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89" name="box_88"/>
          <p:cNvSpPr/>
          <p:nvPr/>
        </p:nvSpPr>
        <p:spPr>
          <a:xfrm>
            <a:off x="12170664" y="32506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IO"/>
          <p:cNvSpPr txBox="1"/>
          <p:nvPr/>
        </p:nvSpPr>
        <p:spPr>
          <a:xfrm>
            <a:off x="12170664" y="3250692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91" name="box_90"/>
          <p:cNvSpPr/>
          <p:nvPr/>
        </p:nvSpPr>
        <p:spPr>
          <a:xfrm>
            <a:off x="12527280" y="32506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IO"/>
          <p:cNvSpPr txBox="1"/>
          <p:nvPr/>
        </p:nvSpPr>
        <p:spPr>
          <a:xfrm>
            <a:off x="12527280" y="3250692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93" name="box_92"/>
          <p:cNvSpPr/>
          <p:nvPr/>
        </p:nvSpPr>
        <p:spPr>
          <a:xfrm>
            <a:off x="12883896" y="3250692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IO"/>
          <p:cNvSpPr txBox="1"/>
          <p:nvPr/>
        </p:nvSpPr>
        <p:spPr>
          <a:xfrm>
            <a:off x="12883896" y="3250692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95" name="panel_7.85_ssu_0_path_44_candidate_True"/>
          <p:cNvSpPr/>
          <p:nvPr/>
        </p:nvSpPr>
        <p:spPr>
          <a:xfrm>
            <a:off x="11137392" y="3639312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Path44"/>
          <p:cNvSpPr txBox="1"/>
          <p:nvPr/>
        </p:nvSpPr>
        <p:spPr>
          <a:xfrm>
            <a:off x="11265408" y="3653028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Path44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97" name="box_96"/>
          <p:cNvSpPr/>
          <p:nvPr/>
        </p:nvSpPr>
        <p:spPr>
          <a:xfrm>
            <a:off x="12170664" y="36987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IO"/>
          <p:cNvSpPr txBox="1"/>
          <p:nvPr/>
        </p:nvSpPr>
        <p:spPr>
          <a:xfrm>
            <a:off x="12170664" y="36987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99" name="box_98"/>
          <p:cNvSpPr/>
          <p:nvPr/>
        </p:nvSpPr>
        <p:spPr>
          <a:xfrm>
            <a:off x="12527280" y="36987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IO"/>
          <p:cNvSpPr txBox="1"/>
          <p:nvPr/>
        </p:nvSpPr>
        <p:spPr>
          <a:xfrm>
            <a:off x="12527280" y="36987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01" name="box_100"/>
          <p:cNvSpPr/>
          <p:nvPr/>
        </p:nvSpPr>
        <p:spPr>
          <a:xfrm>
            <a:off x="12883896" y="36987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IO"/>
          <p:cNvSpPr txBox="1"/>
          <p:nvPr/>
        </p:nvSpPr>
        <p:spPr>
          <a:xfrm>
            <a:off x="12883896" y="36987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03" name="box_102"/>
          <p:cNvSpPr/>
          <p:nvPr/>
        </p:nvSpPr>
        <p:spPr>
          <a:xfrm>
            <a:off x="13240512" y="3698748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IO"/>
          <p:cNvSpPr txBox="1"/>
          <p:nvPr/>
        </p:nvSpPr>
        <p:spPr>
          <a:xfrm>
            <a:off x="13240512" y="36987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05" name="每盘独立选路 · Path 内部 FIFO"/>
          <p:cNvSpPr txBox="1"/>
          <p:nvPr/>
        </p:nvSpPr>
        <p:spPr>
          <a:xfrm>
            <a:off x="11164824" y="4082796"/>
            <a:ext cx="2651760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每盘独立选路 · Path 内部 FIFO</a:t>
            </a:r>
            <a:endParaRPr sz="98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06" name="panel_7.85_SSU1"/>
          <p:cNvSpPr/>
          <p:nvPr/>
        </p:nvSpPr>
        <p:spPr>
          <a:xfrm>
            <a:off x="11018520" y="4480560"/>
            <a:ext cx="2926080" cy="2267712"/>
          </a:xfrm>
          <a:prstGeom prst="rect">
            <a:avLst/>
          </a:prstGeom>
          <a:solidFill>
            <a:srgbClr val="FFFFFF"/>
          </a:solidFill>
          <a:ln w="825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SU1"/>
          <p:cNvSpPr txBox="1"/>
          <p:nvPr/>
        </p:nvSpPr>
        <p:spPr>
          <a:xfrm>
            <a:off x="11164824" y="4553712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SSU1</a:t>
            </a:r>
            <a:endParaRPr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08" name="SL 类：32 条 Path（仅画 3 条）"/>
          <p:cNvSpPr txBox="1"/>
          <p:nvPr/>
        </p:nvSpPr>
        <p:spPr>
          <a:xfrm>
            <a:off x="11164824" y="4892040"/>
            <a:ext cx="2651760" cy="2468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SL 类：32 条 Path（仅画 3 条）</a:t>
            </a:r>
            <a:endParaRPr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09" name="panel_7.85_ssu_1_path_12_candidate_True"/>
          <p:cNvSpPr/>
          <p:nvPr/>
        </p:nvSpPr>
        <p:spPr>
          <a:xfrm>
            <a:off x="11137392" y="5230368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Path12"/>
          <p:cNvSpPr txBox="1"/>
          <p:nvPr/>
        </p:nvSpPr>
        <p:spPr>
          <a:xfrm>
            <a:off x="11265408" y="5244084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Path12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11" name="box_110"/>
          <p:cNvSpPr/>
          <p:nvPr/>
        </p:nvSpPr>
        <p:spPr>
          <a:xfrm>
            <a:off x="12170664" y="5289804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IO"/>
          <p:cNvSpPr txBox="1"/>
          <p:nvPr/>
        </p:nvSpPr>
        <p:spPr>
          <a:xfrm>
            <a:off x="12170664" y="52898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13" name="box_112"/>
          <p:cNvSpPr/>
          <p:nvPr/>
        </p:nvSpPr>
        <p:spPr>
          <a:xfrm>
            <a:off x="12527280" y="5289804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IO"/>
          <p:cNvSpPr txBox="1"/>
          <p:nvPr/>
        </p:nvSpPr>
        <p:spPr>
          <a:xfrm>
            <a:off x="12527280" y="52898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15" name="box_114"/>
          <p:cNvSpPr/>
          <p:nvPr/>
        </p:nvSpPr>
        <p:spPr>
          <a:xfrm>
            <a:off x="12883896" y="5289804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O"/>
          <p:cNvSpPr txBox="1"/>
          <p:nvPr/>
        </p:nvSpPr>
        <p:spPr>
          <a:xfrm>
            <a:off x="12883896" y="52898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17" name="box_116"/>
          <p:cNvSpPr/>
          <p:nvPr/>
        </p:nvSpPr>
        <p:spPr>
          <a:xfrm>
            <a:off x="13240512" y="5289804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IO"/>
          <p:cNvSpPr txBox="1"/>
          <p:nvPr/>
        </p:nvSpPr>
        <p:spPr>
          <a:xfrm>
            <a:off x="13240512" y="52898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19" name="panel_7.85_ssu_1_path_13_candidate_False"/>
          <p:cNvSpPr/>
          <p:nvPr/>
        </p:nvSpPr>
        <p:spPr>
          <a:xfrm>
            <a:off x="11137392" y="5678424"/>
            <a:ext cx="2688336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Path13"/>
          <p:cNvSpPr txBox="1"/>
          <p:nvPr/>
        </p:nvSpPr>
        <p:spPr>
          <a:xfrm>
            <a:off x="11265408" y="5692140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Path13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21" name="box_120"/>
          <p:cNvSpPr/>
          <p:nvPr/>
        </p:nvSpPr>
        <p:spPr>
          <a:xfrm>
            <a:off x="12170664" y="5737860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IO"/>
          <p:cNvSpPr txBox="1"/>
          <p:nvPr/>
        </p:nvSpPr>
        <p:spPr>
          <a:xfrm>
            <a:off x="12170664" y="573786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23" name="panel_7.85_ssu_1_path_44_candidate_True"/>
          <p:cNvSpPr/>
          <p:nvPr/>
        </p:nvSpPr>
        <p:spPr>
          <a:xfrm>
            <a:off x="11137392" y="6126480"/>
            <a:ext cx="2688336" cy="393192"/>
          </a:xfrm>
          <a:prstGeom prst="rect">
            <a:avLst/>
          </a:prstGeom>
          <a:solidFill>
            <a:srgbClr val="FFF1DF"/>
          </a:solidFill>
          <a:ln w="7620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Path44"/>
          <p:cNvSpPr txBox="1"/>
          <p:nvPr/>
        </p:nvSpPr>
        <p:spPr>
          <a:xfrm>
            <a:off x="11265408" y="6140196"/>
            <a:ext cx="886968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Path44</a:t>
            </a:r>
            <a:endParaRPr sz="14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25" name="box_124"/>
          <p:cNvSpPr/>
          <p:nvPr/>
        </p:nvSpPr>
        <p:spPr>
          <a:xfrm>
            <a:off x="12170664" y="618591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IO"/>
          <p:cNvSpPr txBox="1"/>
          <p:nvPr/>
        </p:nvSpPr>
        <p:spPr>
          <a:xfrm>
            <a:off x="12170664" y="6185916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27" name="box_126"/>
          <p:cNvSpPr/>
          <p:nvPr/>
        </p:nvSpPr>
        <p:spPr>
          <a:xfrm>
            <a:off x="12527280" y="6185916"/>
            <a:ext cx="292608" cy="274320"/>
          </a:xfrm>
          <a:prstGeom prst="rect">
            <a:avLst/>
          </a:prstGeom>
          <a:solidFill>
            <a:srgbClr val="E4E9F0"/>
          </a:solidFill>
          <a:ln w="6985">
            <a:solidFill>
              <a:srgbClr val="B4C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IO"/>
          <p:cNvSpPr txBox="1"/>
          <p:nvPr/>
        </p:nvSpPr>
        <p:spPr>
          <a:xfrm>
            <a:off x="12527280" y="6185916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IO</a:t>
            </a:r>
            <a:endParaRPr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29" name="每盘独立选路 · Path 内部 FIFO"/>
          <p:cNvSpPr txBox="1"/>
          <p:nvPr/>
        </p:nvSpPr>
        <p:spPr>
          <a:xfrm>
            <a:off x="11164824" y="6569964"/>
            <a:ext cx="2651760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每盘独立选路 · Path 内部 FIFO</a:t>
            </a:r>
            <a:endParaRPr sz="98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30" name="box_129"/>
          <p:cNvSpPr/>
          <p:nvPr/>
        </p:nvSpPr>
        <p:spPr>
          <a:xfrm>
            <a:off x="7872983" y="2807208"/>
            <a:ext cx="1472184" cy="585216"/>
          </a:xfrm>
          <a:prstGeom prst="rect">
            <a:avLst/>
          </a:prstGeom>
          <a:solidFill>
            <a:srgbClr val="FFFFFF"/>
          </a:solidFill>
          <a:ln w="10795">
            <a:solidFill>
              <a:srgbClr val="35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NPU0"/>
          <p:cNvSpPr txBox="1"/>
          <p:nvPr/>
        </p:nvSpPr>
        <p:spPr>
          <a:xfrm>
            <a:off x="7872983" y="2807208"/>
            <a:ext cx="1472184" cy="5852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569A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NPU0</a:t>
            </a:r>
            <a:endParaRPr sz="1800" b="1">
              <a:solidFill>
                <a:srgbClr val="3569A4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32" name="SL · 总长32K / miss1K"/>
          <p:cNvSpPr txBox="1"/>
          <p:nvPr/>
        </p:nvSpPr>
        <p:spPr>
          <a:xfrm>
            <a:off x="7580375" y="3493008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SL · 总长32K / miss1K</a:t>
            </a:r>
            <a:endParaRPr sz="112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33" name="每层计算 7.26 ms"/>
          <p:cNvSpPr txBox="1"/>
          <p:nvPr/>
        </p:nvSpPr>
        <p:spPr>
          <a:xfrm>
            <a:off x="7580375" y="3749039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每层计算 7.26 ms</a:t>
            </a:r>
            <a:endParaRPr sz="12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34" name="保留全池：32条/盘"/>
          <p:cNvSpPr txBox="1"/>
          <p:nvPr/>
        </p:nvSpPr>
        <p:spPr>
          <a:xfrm>
            <a:off x="7580375" y="4005072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9A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保留全池：32条/盘</a:t>
            </a:r>
            <a:endParaRPr sz="1200" b="1">
              <a:solidFill>
                <a:srgbClr val="3569A4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35" name="box_134"/>
          <p:cNvSpPr/>
          <p:nvPr/>
        </p:nvSpPr>
        <p:spPr>
          <a:xfrm>
            <a:off x="7872983" y="5276088"/>
            <a:ext cx="1472184" cy="585216"/>
          </a:xfrm>
          <a:prstGeom prst="rect">
            <a:avLst/>
          </a:prstGeom>
          <a:solidFill>
            <a:srgbClr val="FFFFFF"/>
          </a:solidFill>
          <a:ln w="10795">
            <a:solidFill>
              <a:srgbClr val="B46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NPU1"/>
          <p:cNvSpPr txBox="1"/>
          <p:nvPr/>
        </p:nvSpPr>
        <p:spPr>
          <a:xfrm>
            <a:off x="7872983" y="5276088"/>
            <a:ext cx="1472184" cy="5852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4662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NPU1</a:t>
            </a:r>
            <a:endParaRPr sz="1800" b="1">
              <a:solidFill>
                <a:srgbClr val="B4662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37" name="SL · 总长32K / miss4K"/>
          <p:cNvSpPr txBox="1"/>
          <p:nvPr/>
        </p:nvSpPr>
        <p:spPr>
          <a:xfrm>
            <a:off x="7580375" y="5961888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SL · 总长32K / miss4K</a:t>
            </a:r>
            <a:endParaRPr sz="112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38" name="每层计算 28.59 ms"/>
          <p:cNvSpPr txBox="1"/>
          <p:nvPr/>
        </p:nvSpPr>
        <p:spPr>
          <a:xfrm>
            <a:off x="7580375" y="6217920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每层计算 28.59 ms</a:t>
            </a:r>
            <a:endParaRPr sz="12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39" name="固定池：8条/盘"/>
          <p:cNvSpPr txBox="1"/>
          <p:nvPr/>
        </p:nvSpPr>
        <p:spPr>
          <a:xfrm>
            <a:off x="7580375" y="6473952"/>
            <a:ext cx="20574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662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固定池：8条/盘</a:t>
            </a:r>
            <a:endParaRPr sz="1200" b="1">
              <a:solidFill>
                <a:srgbClr val="B4662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cxnSp>
        <p:nvCxnSpPr>
          <p:cNvPr id="140" name="Connector 139"/>
          <p:cNvCxnSpPr/>
          <p:nvPr/>
        </p:nvCxnSpPr>
        <p:spPr>
          <a:xfrm>
            <a:off x="9345167" y="2962656"/>
            <a:ext cx="594361" cy="0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939528" y="2875788"/>
            <a:ext cx="0" cy="86868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939528" y="2875788"/>
            <a:ext cx="1197864" cy="0"/>
          </a:xfrm>
          <a:prstGeom prst="line">
            <a:avLst/>
          </a:prstGeom>
          <a:ln w="19685">
            <a:solidFill>
              <a:srgbClr val="3569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9345167" y="3236976"/>
            <a:ext cx="438913" cy="0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784080" y="3236976"/>
            <a:ext cx="0" cy="2638044"/>
          </a:xfrm>
          <a:prstGeom prst="line">
            <a:avLst/>
          </a:prstGeom>
          <a:ln w="19685">
            <a:solidFill>
              <a:srgbClr val="3569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784080" y="5875020"/>
            <a:ext cx="1353312" cy="0"/>
          </a:xfrm>
          <a:prstGeom prst="line">
            <a:avLst/>
          </a:prstGeom>
          <a:ln w="19685">
            <a:solidFill>
              <a:srgbClr val="3569A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345167" y="5431536"/>
            <a:ext cx="1207009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552176" y="3003803"/>
            <a:ext cx="0" cy="2427733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552176" y="3003803"/>
            <a:ext cx="585216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9345167" y="5696712"/>
            <a:ext cx="1014985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360152" y="5696712"/>
            <a:ext cx="0" cy="626364"/>
          </a:xfrm>
          <a:prstGeom prst="line">
            <a:avLst/>
          </a:prstGeom>
          <a:ln w="19685">
            <a:solidFill>
              <a:srgbClr val="B4662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360152" y="6323076"/>
            <a:ext cx="777240" cy="0"/>
          </a:xfrm>
          <a:prstGeom prst="line">
            <a:avLst/>
          </a:prstGeom>
          <a:ln w="19685">
            <a:solidFill>
              <a:srgbClr val="B4662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" y="851535"/>
            <a:ext cx="6785610" cy="28968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560" y="4221480"/>
            <a:ext cx="9079865" cy="3837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885" y="606425"/>
            <a:ext cx="3915410" cy="24498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580" y="503555"/>
            <a:ext cx="3840480" cy="240601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48335" y="6365875"/>
            <a:ext cx="64281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Random      Baseline                    90.68%                77.42%</a:t>
            </a:r>
            <a:endParaRPr lang="en-US"/>
          </a:p>
          <a:p>
            <a:r>
              <a:rPr lang="en-US"/>
              <a:t>Random      </a:t>
            </a:r>
            <a:r>
              <a:rPr lang="zh-CN" altLang="en-US">
                <a:sym typeface="+mn-ea"/>
              </a:rPr>
              <a:t>流量分配</a:t>
            </a:r>
            <a:r>
              <a:rPr lang="en-US"/>
              <a:t>                    91.24%                79.59%</a:t>
            </a:r>
            <a:endParaRPr lang="en-US"/>
          </a:p>
          <a:p>
            <a:r>
              <a:rPr lang="en-US"/>
              <a:t>Random      固定候选池 + </a:t>
            </a:r>
            <a:r>
              <a:rPr lang="zh-CN" altLang="en-US"/>
              <a:t>流量分配</a:t>
            </a:r>
            <a:r>
              <a:rPr lang="en-US"/>
              <a:t>           85.38%                91.05%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5" y="3225800"/>
            <a:ext cx="5601335" cy="23679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105" y="3398520"/>
            <a:ext cx="4391660" cy="1854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1258</Words>
  <Application>WPS Presentation</Application>
  <PresentationFormat>On-screen Show (4:3)</PresentationFormat>
  <Paragraphs>282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Arial</vt:lpstr>
      <vt:lpstr>Noto Sans CJK SC</vt:lpstr>
      <vt:lpstr>Calibri</vt:lpstr>
      <vt:lpstr>微软雅黑</vt:lpstr>
      <vt:lpstr>Arial Unicode MS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固定候选池 + Once：先限定范围，再按层选路</dc:title>
  <dc:creator>QoS Storage Simulation</dc:creator>
  <cp:keywords>Once per layer, QoS Path, SLO, static</cp:keywords>
  <dc:description>generated using python-pptx</dc:description>
  <dc:subject>L3 fixed candidate pool routing, one-slide concept</dc:subject>
  <cp:lastModifiedBy>chguo</cp:lastModifiedBy>
  <cp:revision>6</cp:revision>
  <dcterms:created xsi:type="dcterms:W3CDTF">2026-09-16T00:17:35Z</dcterms:created>
  <dcterms:modified xsi:type="dcterms:W3CDTF">2026-09-16T00:17:35Z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