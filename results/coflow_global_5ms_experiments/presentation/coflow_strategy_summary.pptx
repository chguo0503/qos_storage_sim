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展示名称仅用于汇报，没有修改任何策略源码或重新选择实验结果。</a:t>
            </a:r>
          </a:p>
          <a:p>
            <a:r>
              <a:t>名称映射：Baseline=固定单路；Once per layer=压力感知选路；New Once=预留感知选路；策略 1=全局客户端调度；策略 2=盘内协同调度；策略 3=跨盘协同调度。</a:t>
            </a:r>
          </a:p>
          <a:p>
            <a:r>
              <a:t>New Once沿用Once的选路算法，但压力计数使用所有受管流量的全局已规划减HBM完成账本，不是在旧SSD快照上简单加一遍，也不是增加读取SSD状态频率。</a:t>
            </a:r>
          </a:p>
          <a:p>
            <a:r>
              <a:t>S1新增新请求到达时的NPU绑定与全局未下发I/O的授予/延迟；不移动已经存储的数据。</a:t>
            </a:r>
          </a:p>
          <a:p>
            <a:r>
              <a:t>S2可改变同Path尚未服务队列头，并在原生最小虚拟完成时间+EPS等价候选内选择跨Path服务；保持CIR/WFQ计费，不是任意EDF或全局最优，不抢占正在服务的I/O。</a:t>
            </a:r>
          </a:p>
          <a:p>
            <a:r>
              <a:t>S3在S2权限上使用同层各SSD已激活未HBM完成数据的共同进度选择优先级；不保证所有盘同时服务同一层。</a:t>
            </a:r>
          </a:p>
          <a:p>
            <a:r>
              <a:t>6 SSU客户端参数只用seed20260906选择；seed20260907以及其他盘数为泛化检查。两种子平均窗口利用率；两种子合并SLO分母1408。SLO门限为1.5倍该请求八层纯计算总时长。</a:t>
            </a:r>
          </a:p>
          <a:p>
            <a:r>
              <a:t>5盘持续输入超过容量，但有限请求可排空；不是仅由平均输入证明[1,2]秒利用率上限。S1–S3所有拓扑/种子的整批完成时间都比Once更长，0/6组更快；不能声称整批吞吐提升。</a:t>
            </a:r>
          </a:p>
          <a:p>
            <a:r>
              <a:t>所有图形、文字、结果数字都是可编辑PPT对象；无栅格化表格。</a:t>
            </a:r>
          </a:p>
          <a:p>
            <a:r>
              <a:t>来源：data/formal_results/formal_audit_summary.json</a:t>
            </a:r>
          </a:p>
          <a:p>
            <a:r>
              <a:t>来源SHA256：9477724c925d879c1a25d414c9ad7779421050c51535ce6da4b59d312bf07759</a:t>
            </a:r>
          </a:p>
          <a:p>
            <a:r>
              <a:t>完整报告：../coflow_global_5ms_report.pdf</a:t>
            </a:r>
          </a:p>
          <a:p>
            <a:r>
              <a:t>{"baseline_ssu5": [87.40997874041005, 62.92613636363637], "baseline_ssu6": [95.99313639317725, 79.04829545454545], "baseline_ssu7": [98.78937182531622, 87.28693181818181], "once_ssu5": [87.57387025413732, 80.7528409090909], "once_ssu6": [95.97856490862699, 94.46022727272727], "once_ssu7": [99.40897084063442, 97.58522727272727], "new_once_ssu5": [87.63931855393832, 78.97727272727273], "new_once_ssu6": [96.83501582671742, 94.88636363636364], "new_once_ssu7": [99.48849976358099, 97.51420454545455], "strategy1_ssu5": [85.06632057264098, 92.04545454545455], "strategy1_ssu6": [97.93212032069042, 98.4375], "strategy1_ssu7": [99.63099012777192, 99.28977272727273], "strategy2_ssu5": [84.66792391426006, 91.47727272727273], "strategy2_ssu6": [97.67035475149899, 98.29545454545455], "strategy2_ssu7": [99.75508508127204, 99.21875], "strategy3_ssu5": [84.60192676667859, 92.54261363636364], "strategy3_ssu6": [98.40731394890341, 98.1534090909091], "strategy3_ssu7": [99.69114387973596, 99.28977272727273]}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29768"/>
            <a:ext cx="13441680" cy="5486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lang="zh-CN">
                <a:solidFill>
                  <a:srgbClr val="222222"/>
                </a:solidFill>
                <a:latin typeface="Noto Sans CJK SC"/>
                <a:ea typeface="Noto Sans CJK SC"/>
              </a:rPr>
              <a:t>QoS 调度策略对比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060704"/>
            <a:ext cx="13350240" cy="25603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666666"/>
                </a:solidFill>
                <a:latin typeface="Noto Sans CJK SC"/>
                <a:ea typeface="Noto Sans CJK SC"/>
              </a:rPr>
              <a:t>32 NPU，单盘 40 GiB/s，状态采集周期 5 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18488"/>
            <a:ext cx="13441680" cy="713232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801368"/>
            <a:ext cx="2286000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01368"/>
            <a:ext cx="3931920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主要能力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82496"/>
            <a:ext cx="2240279" cy="27432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5 SSU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5340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SLO达标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682496"/>
            <a:ext cx="2240279" cy="27432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6 SSU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75619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SLO达标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59" y="1682496"/>
            <a:ext cx="2240279" cy="27432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lang="zh-CN">
                <a:solidFill>
                  <a:srgbClr val="222222"/>
                </a:solidFill>
                <a:latin typeface="Noto Sans CJK SC"/>
                <a:ea typeface="Noto Sans CJK SC"/>
              </a:rPr>
              <a:t>7 SSU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59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利用率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15899" y="2039112"/>
            <a:ext cx="1120139" cy="210312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lang="zh-CN">
                <a:solidFill>
                  <a:srgbClr val="666666"/>
                </a:solidFill>
                <a:latin typeface="Noto Sans CJK SC"/>
                <a:ea typeface="Noto Sans CJK SC"/>
              </a:rPr>
              <a:t>SLO达标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2432303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固定单路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743200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32888"/>
            <a:ext cx="4023360" cy="265176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每盘读取固定进入 Path0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87.41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62.93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95.99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5619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79.05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59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98.79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15899" y="250545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87.29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93745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099815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压力感知选路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410712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Once per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095244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每层查看 QoS Path 的 I/O 压力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60420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动态选择路径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87.57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5340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80.75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95.98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5619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94.46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95759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15899" y="3172968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97.59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661257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3767328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预留感知选路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078224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New Once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762756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在 Once 基础上，计入全局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027931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已安排但未完成的 I/O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87.64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5340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78.98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96.84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5619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94.89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95759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15899" y="3840480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97.51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328769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4434840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全局客户端调度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4745736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430268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在新 Once 基础上，选择 NPU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695444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并控制 I/O 下发时机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85.07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5340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92.05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97.93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75619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98.44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795759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915899" y="4507992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99.29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4996281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" y="5102352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盘内协同调度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5413248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0400" y="5097780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在策略 1 基础上，增加盘内 I/O 调度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362956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保留原生 QoS 约束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84.67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5340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91.48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97.67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75619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98.30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795759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99.76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15899" y="5175504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99.22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4360" y="5663793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5769864"/>
            <a:ext cx="2258568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222222"/>
                </a:solidFill>
                <a:latin typeface="Noto Sans CJK SC"/>
                <a:ea typeface="Noto Sans CJK SC"/>
              </a:rPr>
              <a:t>跨盘协同调度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" y="6080759"/>
            <a:ext cx="2249424" cy="18288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666666"/>
                </a:solidFill>
                <a:latin typeface="Noto Sans CJK SC"/>
                <a:ea typeface="Noto Sans CJK SC"/>
              </a:rPr>
              <a:t>策略 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5765292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在策略 2 基础上，结合各盘读取进度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0" y="6030467"/>
            <a:ext cx="4023360" cy="237744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222222"/>
                </a:solidFill>
                <a:latin typeface="Noto Sans CJK SC"/>
                <a:ea typeface="Noto Sans CJK SC"/>
              </a:rPr>
              <a:t>协调同一层 I/O 的优先级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0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84.60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35340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92.54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55480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98.41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75619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98.15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795759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222222"/>
                </a:solidFill>
                <a:latin typeface="DejaVu Sans"/>
                <a:ea typeface="Noto Sans CJK SC"/>
              </a:rPr>
              <a:t>99.69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915899" y="5843016"/>
            <a:ext cx="1120139" cy="320040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222222"/>
                </a:solidFill>
                <a:latin typeface="DejaVu Sans"/>
                <a:ea typeface="Noto Sans CJK SC"/>
              </a:rPr>
              <a:t>99.29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" y="6331305"/>
            <a:ext cx="13441680" cy="5486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090672" y="1618488"/>
            <a:ext cx="4572" cy="4718304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1618488"/>
            <a:ext cx="4572" cy="4718304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555480" y="1618488"/>
            <a:ext cx="4572" cy="4718304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795759" y="1618488"/>
            <a:ext cx="4572" cy="4718304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2648" y="6675120"/>
            <a:ext cx="13405104" cy="292608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lang="zh-CN">
                <a:solidFill>
                  <a:srgbClr val="222222"/>
                </a:solidFill>
                <a:latin typeface="Noto Sans CJK SC"/>
                <a:ea typeface="Noto Sans CJK SC"/>
              </a:rPr>
              <a:t>策略 1–3 的接纳后 SLO 达标率提高，但整批请求完成时间均长于 Once。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" y="7315200"/>
            <a:ext cx="13405104" cy="219456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注：利用率取 [1,2] 秒内 32 卡平均；SLO 按接纳至 8 层完成 ≤ 1.5 × 纯计算总时间统计，不含接纳前排队。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7571231"/>
            <a:ext cx="13405104" cy="219456"/>
          </a:xfrm>
          <a:prstGeom prst="rect">
            <a:avLst/>
          </a:prstGeom>
          <a:noFill/>
        </p:spPr>
        <p:txBody>
          <a:bodyPr wrap="none" anchorCtr="0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666666"/>
                </a:solidFill>
                <a:latin typeface="Noto Sans CJK SC"/>
                <a:ea typeface="Noto Sans CJK SC"/>
              </a:rPr>
              <a:t>两次实验汇总，每次 704 请求；静态 CIR，控制开销未计入。粗体为列内最高值。盘内及跨盘调度需要盘侧配合。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QoS 调度策略对比</dc:title>
  <dc:subject>32 NPU，5/6/7 SSU，同输入，36组正式实验</dc:subject>
  <dc:creator>QoS Storage Simulation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