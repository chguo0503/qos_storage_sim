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9" r:id="rId3"/>
    <p:sldId id="260" r:id="rId4"/>
    <p:sldId id="256" r:id="rId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guo" initials="c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概念示意，不是真实仿真数据；四个IO方块表示较高队列占用，一个表示较低占用。</a:t>
            </a:r>
          </a:p>
          <a:p>
            <a:r>
              <a:t>方块尺寸与颜色一致，表示同大小的已入Path未完成IO；箭头为本层即将下发的IO，尚未计入方块数量。本示例假定可比服务条件，实际压力还取决于CIR/PIR及活动状态，不是断言仅凭4与1即可精确预测等待时间。图中不单独展开正在服务和等待服务的IO。</a:t>
            </a:r>
          </a:p>
          <a:p>
            <a:r>
              <a:t>Once per layer对每个request-layer-ASU组合规划一次本层各IO的路径，不把NPU固定绑定到某个Path，也不表示一层只用一条Path。</a:t>
            </a:r>
          </a:p>
          <a:p>
            <a:r>
              <a:t>图中两个NPU当前处理的请求均为SS，故只能在各自目标ASU的SS允许Path集合中选路。类别由请求参数确定，不是NPU的永久属性；同一NPU后续处理其他类别请求时使用对应池。</a:t>
            </a:r>
          </a:p>
          <a:p>
            <a:r>
              <a:t>SS类可选Path框是逻辑集合，不是单独的硬件组。当前配置SS共有96条Path，跨8个硬件组；这里只展示实际合法的Path0/1/2。SL/LS/LL集合折叠显示，即使其Path空闲，当前SS请求也不能在该配置下跨类别选用。</a:t>
            </a:r>
          </a:p>
          <a:p>
            <a:r>
              <a:t>两图表示各NPU在不同层上的可能选择，不要求所有NPU同步换层。每层重新规划不等于必须更换路径，图中NPU1至ASU1的Path2保持不变。</a:t>
            </a:r>
          </a:p>
          <a:p>
            <a:r>
              <a:t>左图NPU0和NPU1都选择ASU0.Path0，展示Path共享。右图分别选择Path2、Path1。展示的Path0/1/2属于两个SS请求共同允许的集合；Path共享不等于跨类别任意选路。</a:t>
            </a:r>
          </a:p>
          <a:p>
            <a:r>
              <a:t>ASU0.Path0与ASU1.Path0是不同设备上的独立队列。选路不迁移数据、不改变目标ASU，也不会把已经入队的IO随下一幅图迁走。</a:t>
            </a:r>
          </a:p>
          <a:p>
            <a:r>
              <a:t>压力来自客户端可查询的采集状态；没有增加按层实时设备读取、CIR写入、全局预留账本或NPU重绑定，不混入New Once及后续新策略的能力。</a:t>
            </a:r>
          </a:p>
          <a:p>
            <a:r>
              <a:t>蓝色实线来自NPU0，灰色虚线来自NPU1；所有线条、框和文字可编辑。</a:t>
            </a:r>
          </a:p>
          <a:p>
            <a:r>
              <a:t>代码依据：shared_path_once.py；policy_logic.py中的允许Path集合及逐层IO规划。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79475" y="459105"/>
            <a:ext cx="10775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带宽总量够用，但前方长读取占用的服务时间，超过短请求能等待的时间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885" y="3051810"/>
            <a:ext cx="7815580" cy="22212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455" y="1303655"/>
            <a:ext cx="3537585" cy="17481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040" y="1303655"/>
            <a:ext cx="3527425" cy="17418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45" y="5582920"/>
            <a:ext cx="4871720" cy="183959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147445" y="881380"/>
            <a:ext cx="10775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欠载情况</a:t>
            </a:r>
            <a:r>
              <a:rPr lang="en-US" altLang="zh-CN"/>
              <a:t>, npu=32, ssu=6, ssu</a:t>
            </a:r>
            <a:r>
              <a:rPr lang="zh-CN" altLang="en-US"/>
              <a:t>平均带宽</a:t>
            </a:r>
            <a:r>
              <a:rPr lang="en-US" altLang="zh-CN"/>
              <a:t>=35GB/s  </a:t>
            </a:r>
            <a:endParaRPr lang="en-US" altLang="zh-C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5741035"/>
            <a:ext cx="67056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0" y="596265"/>
            <a:ext cx="5455285" cy="25984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65" y="3424555"/>
            <a:ext cx="5645150" cy="22847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" y="5939155"/>
            <a:ext cx="6953250" cy="1533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330" y="3819525"/>
            <a:ext cx="3543300" cy="14954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708390" y="1031875"/>
            <a:ext cx="5396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随机取请求入队</a:t>
            </a:r>
            <a:r>
              <a:rPr lang="en-US" altLang="zh-CN"/>
              <a:t>,  </a:t>
            </a:r>
            <a:r>
              <a:rPr lang="zh-CN" altLang="en-US"/>
              <a:t>对短请求不友好</a:t>
            </a:r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6330" y="3114675"/>
            <a:ext cx="3305175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785" y="212090"/>
            <a:ext cx="7022465" cy="54864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80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Once per layer：动态选择 QoS Path</a:t>
            </a:r>
            <a:endParaRPr lang="zh-CN" sz="280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362456"/>
            <a:ext cx="6181344" cy="38404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第 L 层</a:t>
            </a:r>
            <a:endParaRPr lang="zh-CN" sz="200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1" y="2660904"/>
            <a:ext cx="134416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3569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2660904"/>
            <a:ext cx="1344168" cy="603504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569A4"/>
                </a:solidFill>
                <a:latin typeface="Noto Sans CJK SC" panose="020B0500000000000000" charset="-122"/>
                <a:ea typeface="Noto Sans CJK SC" panose="020B0500000000000000" charset="-122"/>
              </a:rPr>
              <a:t>NPU0</a:t>
            </a:r>
            <a:endParaRPr lang="zh-CN" sz="1800" b="1">
              <a:solidFill>
                <a:srgbClr val="3569A4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1" y="3355848"/>
            <a:ext cx="1344168" cy="24688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当前请求：SS</a:t>
            </a:r>
            <a:endParaRPr lang="zh-CN" sz="11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231" y="4773168"/>
            <a:ext cx="134416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4773168"/>
            <a:ext cx="1344168" cy="603504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NPU1</a:t>
            </a:r>
            <a:endParaRPr lang="zh-CN" sz="1800" b="1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1" y="5468112"/>
            <a:ext cx="1344168" cy="24688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当前请求：SS</a:t>
            </a:r>
            <a:endParaRPr lang="zh-CN" sz="11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95928" y="1819656"/>
            <a:ext cx="2706624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879092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ASU0</a:t>
            </a:r>
            <a:endParaRPr lang="zh-CN"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05656" y="2167128"/>
            <a:ext cx="2487168" cy="1609344"/>
          </a:xfrm>
          <a:prstGeom prst="rect">
            <a:avLst/>
          </a:prstGeom>
          <a:solidFill>
            <a:srgbClr val="F8FAFC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2185416"/>
            <a:ext cx="230428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SS 类可选 Path（部分）</a:t>
            </a:r>
            <a:endParaRPr lang="zh-CN"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60520" y="2450591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450591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Path0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6" name="queued_io_s0_asu0_path0_0"/>
          <p:cNvSpPr/>
          <p:nvPr/>
        </p:nvSpPr>
        <p:spPr>
          <a:xfrm>
            <a:off x="5056631" y="2510027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251002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60520" y="2898648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8536" y="2898648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Path1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0" name="queued_io_s0_asu0_path1_0"/>
          <p:cNvSpPr/>
          <p:nvPr/>
        </p:nvSpPr>
        <p:spPr>
          <a:xfrm>
            <a:off x="5056631" y="295808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1" y="295808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2" name="queued_io_s0_asu0_path1_1"/>
          <p:cNvSpPr/>
          <p:nvPr/>
        </p:nvSpPr>
        <p:spPr>
          <a:xfrm>
            <a:off x="5404103" y="295808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4103" y="295808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4" name="queued_io_s0_asu0_path1_2"/>
          <p:cNvSpPr/>
          <p:nvPr/>
        </p:nvSpPr>
        <p:spPr>
          <a:xfrm>
            <a:off x="5751575" y="295808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5" y="295808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6" name="queued_io_s0_asu0_path1_3"/>
          <p:cNvSpPr/>
          <p:nvPr/>
        </p:nvSpPr>
        <p:spPr>
          <a:xfrm>
            <a:off x="6099048" y="295808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295808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160520" y="3346703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8536" y="3346703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Path2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0" name="queued_io_s0_asu0_path2_0"/>
          <p:cNvSpPr/>
          <p:nvPr/>
        </p:nvSpPr>
        <p:spPr>
          <a:xfrm>
            <a:off x="5056631" y="3406139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6631" y="3406139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2" name="queued_io_s0_asu0_path2_1"/>
          <p:cNvSpPr/>
          <p:nvPr/>
        </p:nvSpPr>
        <p:spPr>
          <a:xfrm>
            <a:off x="5404103" y="3406139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04103" y="3406139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4" name="queued_io_s0_asu0_path2_2"/>
          <p:cNvSpPr/>
          <p:nvPr/>
        </p:nvSpPr>
        <p:spPr>
          <a:xfrm>
            <a:off x="5751575" y="3406139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51575" y="3406139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6" name="queued_io_s0_asu0_path2_3"/>
          <p:cNvSpPr/>
          <p:nvPr/>
        </p:nvSpPr>
        <p:spPr>
          <a:xfrm>
            <a:off x="6099048" y="3406139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8" y="3406139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105656" y="3831336"/>
            <a:ext cx="2487168" cy="21945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05656" y="3831336"/>
            <a:ext cx="248716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其他类别：SL / LS / LL</a:t>
            </a:r>
            <a:endParaRPr lang="zh-CN" sz="10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95928" y="4379976"/>
            <a:ext cx="2706624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0520" y="4439412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ASU1</a:t>
            </a:r>
            <a:endParaRPr lang="zh-CN"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105656" y="4727448"/>
            <a:ext cx="2487168" cy="1609344"/>
          </a:xfrm>
          <a:prstGeom prst="rect">
            <a:avLst/>
          </a:prstGeom>
          <a:solidFill>
            <a:srgbClr val="F8FAFC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97096" y="4745736"/>
            <a:ext cx="230428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SS 类可选 Path（部分）</a:t>
            </a:r>
            <a:endParaRPr lang="zh-CN"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160520" y="5010912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88536" y="5010912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Path0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6" name="queued_io_s0_asu1_path0_0"/>
          <p:cNvSpPr/>
          <p:nvPr/>
        </p:nvSpPr>
        <p:spPr>
          <a:xfrm>
            <a:off x="5056631" y="5070348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56631" y="50703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48" name="queued_io_s0_asu1_path0_1"/>
          <p:cNvSpPr/>
          <p:nvPr/>
        </p:nvSpPr>
        <p:spPr>
          <a:xfrm>
            <a:off x="5404103" y="5070348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04103" y="50703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0" name="queued_io_s0_asu1_path0_2"/>
          <p:cNvSpPr/>
          <p:nvPr/>
        </p:nvSpPr>
        <p:spPr>
          <a:xfrm>
            <a:off x="5751575" y="5070348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51575" y="50703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2" name="queued_io_s0_asu1_path0_3"/>
          <p:cNvSpPr/>
          <p:nvPr/>
        </p:nvSpPr>
        <p:spPr>
          <a:xfrm>
            <a:off x="6099048" y="5070348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9048" y="50703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160520" y="5458968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88536" y="5458968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Path1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6" name="queued_io_s0_asu1_path1_0"/>
          <p:cNvSpPr/>
          <p:nvPr/>
        </p:nvSpPr>
        <p:spPr>
          <a:xfrm>
            <a:off x="5056631" y="551840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56631" y="55184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160520" y="5907024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88536" y="5907024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Path2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60" name="queued_io_s0_asu1_path2_0"/>
          <p:cNvSpPr/>
          <p:nvPr/>
        </p:nvSpPr>
        <p:spPr>
          <a:xfrm>
            <a:off x="5056631" y="5966460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56631" y="596646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105656" y="6391656"/>
            <a:ext cx="2487168" cy="21945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05656" y="6391656"/>
            <a:ext cx="248716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其他类别：SL / LS / LL</a:t>
            </a:r>
            <a:endParaRPr lang="zh-CN" sz="10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2057400" y="2852928"/>
            <a:ext cx="621791" cy="0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2679191" y="2583179"/>
            <a:ext cx="0" cy="269749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2679191" y="2583179"/>
            <a:ext cx="1481329" cy="0"/>
          </a:xfrm>
          <a:prstGeom prst="line">
            <a:avLst/>
          </a:prstGeom>
          <a:ln w="20955">
            <a:solidFill>
              <a:srgbClr val="3569A4"/>
            </a:solidFill>
            <a:tailEnd type="triangle" w="sm" len="sm"/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057400" y="4965192"/>
            <a:ext cx="1463039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3520439" y="2711195"/>
            <a:ext cx="0" cy="2253997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3520439" y="2711195"/>
            <a:ext cx="640081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  <a:tailEnd type="triangle" w="sm" len="sm"/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2057400" y="3081528"/>
            <a:ext cx="374904" cy="0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2432304" y="3081528"/>
            <a:ext cx="0" cy="2574036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2432304" y="5655564"/>
            <a:ext cx="1728216" cy="0"/>
          </a:xfrm>
          <a:prstGeom prst="line">
            <a:avLst/>
          </a:prstGeom>
          <a:ln w="20955">
            <a:solidFill>
              <a:srgbClr val="3569A4"/>
            </a:solidFill>
            <a:tailEnd type="triangle" w="sm" len="sm"/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057400" y="5312664"/>
            <a:ext cx="1069848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3127248" y="5312664"/>
            <a:ext cx="0" cy="790956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3127248" y="6103620"/>
            <a:ext cx="1033272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  <a:tailEnd type="triangle" w="sm" len="sm"/>
          </a:ln>
          <a:effectLst/>
        </p:spPr>
      </p:cxnSp>
      <p:sp>
        <p:nvSpPr>
          <p:cNvPr id="76" name="TextBox 75"/>
          <p:cNvSpPr txBox="1"/>
          <p:nvPr/>
        </p:nvSpPr>
        <p:spPr>
          <a:xfrm>
            <a:off x="7818120" y="1362456"/>
            <a:ext cx="6181344" cy="38404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第 L+1 层</a:t>
            </a:r>
            <a:endParaRPr lang="zh-CN" sz="200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891272" y="2660904"/>
            <a:ext cx="134416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3569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91272" y="2660904"/>
            <a:ext cx="1344168" cy="603504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569A4"/>
                </a:solidFill>
                <a:latin typeface="Noto Sans CJK SC" panose="020B0500000000000000" charset="-122"/>
                <a:ea typeface="Noto Sans CJK SC" panose="020B0500000000000000" charset="-122"/>
              </a:rPr>
              <a:t>NPU0</a:t>
            </a:r>
            <a:endParaRPr lang="zh-CN" sz="1800" b="1">
              <a:solidFill>
                <a:srgbClr val="3569A4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891272" y="3355848"/>
            <a:ext cx="1344168" cy="24688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当前请求：SS</a:t>
            </a:r>
            <a:endParaRPr lang="zh-CN" sz="11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7891272" y="4773168"/>
            <a:ext cx="134416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6666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91272" y="4773168"/>
            <a:ext cx="1344168" cy="603504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NPU1</a:t>
            </a:r>
            <a:endParaRPr lang="zh-CN" sz="1800" b="1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91272" y="5468112"/>
            <a:ext cx="1344168" cy="246888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当前请求：SS</a:t>
            </a:r>
            <a:endParaRPr lang="zh-CN" sz="11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1173968" y="1819656"/>
            <a:ext cx="2706624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338560" y="1879092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ASU0</a:t>
            </a:r>
            <a:endParaRPr lang="zh-CN"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1283696" y="2167128"/>
            <a:ext cx="2487168" cy="1609344"/>
          </a:xfrm>
          <a:prstGeom prst="rect">
            <a:avLst/>
          </a:prstGeom>
          <a:solidFill>
            <a:srgbClr val="F8FAFC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375136" y="2185416"/>
            <a:ext cx="230428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SS 类可选 Path（部分）</a:t>
            </a:r>
            <a:endParaRPr lang="zh-CN"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1338560" y="2450591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466576" y="2450591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Path0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89" name="queued_io_s1_asu0_path0_0"/>
          <p:cNvSpPr/>
          <p:nvPr/>
        </p:nvSpPr>
        <p:spPr>
          <a:xfrm>
            <a:off x="12234672" y="2510027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234672" y="251002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1" name="queued_io_s1_asu0_path0_1"/>
          <p:cNvSpPr/>
          <p:nvPr/>
        </p:nvSpPr>
        <p:spPr>
          <a:xfrm>
            <a:off x="12582144" y="2510027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582144" y="251002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3" name="queued_io_s1_asu0_path0_2"/>
          <p:cNvSpPr/>
          <p:nvPr/>
        </p:nvSpPr>
        <p:spPr>
          <a:xfrm>
            <a:off x="12929616" y="2510027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929616" y="251002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5" name="queued_io_s1_asu0_path0_3"/>
          <p:cNvSpPr/>
          <p:nvPr/>
        </p:nvSpPr>
        <p:spPr>
          <a:xfrm>
            <a:off x="13277088" y="2510027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3277088" y="2510027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1338560" y="2898648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466576" y="2898648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Path1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99" name="queued_io_s1_asu0_path1_0"/>
          <p:cNvSpPr/>
          <p:nvPr/>
        </p:nvSpPr>
        <p:spPr>
          <a:xfrm>
            <a:off x="12234672" y="295808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2234672" y="295808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1338560" y="3346703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466576" y="3346703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Path2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3" name="queued_io_s1_asu0_path2_0"/>
          <p:cNvSpPr/>
          <p:nvPr/>
        </p:nvSpPr>
        <p:spPr>
          <a:xfrm>
            <a:off x="12234672" y="3406139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2234672" y="3406139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1283696" y="3831336"/>
            <a:ext cx="2487168" cy="21945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283696" y="3831336"/>
            <a:ext cx="248716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其他类别：SL / LS / LL</a:t>
            </a:r>
            <a:endParaRPr lang="zh-CN" sz="10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1173968" y="4379976"/>
            <a:ext cx="2706624" cy="2286000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338560" y="4439412"/>
            <a:ext cx="1005840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6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ASU1</a:t>
            </a:r>
            <a:endParaRPr lang="zh-CN" sz="16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11283696" y="4727448"/>
            <a:ext cx="2487168" cy="1609344"/>
          </a:xfrm>
          <a:prstGeom prst="rect">
            <a:avLst/>
          </a:prstGeom>
          <a:solidFill>
            <a:srgbClr val="F8FAFC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375136" y="4745736"/>
            <a:ext cx="230428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SS 类可选 Path（部分）</a:t>
            </a:r>
            <a:endParaRPr lang="zh-CN" sz="1150" b="1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1338560" y="5010912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466576" y="5010912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Path0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3" name="queued_io_s1_asu1_path0_0"/>
          <p:cNvSpPr/>
          <p:nvPr/>
        </p:nvSpPr>
        <p:spPr>
          <a:xfrm>
            <a:off x="12234672" y="5070348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234672" y="5070348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1338560" y="5458968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466576" y="5458968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Path1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7" name="queued_io_s1_asu1_path1_0"/>
          <p:cNvSpPr/>
          <p:nvPr/>
        </p:nvSpPr>
        <p:spPr>
          <a:xfrm>
            <a:off x="12234672" y="551840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2234672" y="55184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19" name="queued_io_s1_asu1_path1_1"/>
          <p:cNvSpPr/>
          <p:nvPr/>
        </p:nvSpPr>
        <p:spPr>
          <a:xfrm>
            <a:off x="12582144" y="551840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582144" y="55184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1" name="queued_io_s1_asu1_path1_2"/>
          <p:cNvSpPr/>
          <p:nvPr/>
        </p:nvSpPr>
        <p:spPr>
          <a:xfrm>
            <a:off x="12929616" y="551840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2929616" y="55184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3" name="queued_io_s1_asu1_path1_3"/>
          <p:cNvSpPr/>
          <p:nvPr/>
        </p:nvSpPr>
        <p:spPr>
          <a:xfrm>
            <a:off x="13277088" y="5518404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277088" y="5518404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11338560" y="5907024"/>
            <a:ext cx="237744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EC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466576" y="5907024"/>
            <a:ext cx="676656" cy="393192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Path2</a:t>
            </a:r>
            <a:endParaRPr lang="zh-CN" sz="14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7" name="queued_io_s1_asu1_path2_0"/>
          <p:cNvSpPr/>
          <p:nvPr/>
        </p:nvSpPr>
        <p:spPr>
          <a:xfrm>
            <a:off x="12234672" y="5966460"/>
            <a:ext cx="292608" cy="274320"/>
          </a:xfrm>
          <a:prstGeom prst="rect">
            <a:avLst/>
          </a:prstGeom>
          <a:solidFill>
            <a:srgbClr val="E4E9EF"/>
          </a:solidFill>
          <a:ln w="8890">
            <a:solidFill>
              <a:srgbClr val="A2AD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234672" y="5966460"/>
            <a:ext cx="292608" cy="27432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95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IO</a:t>
            </a:r>
            <a:endParaRPr lang="zh-CN" sz="95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1283696" y="6391656"/>
            <a:ext cx="2487168" cy="21945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283696" y="6391656"/>
            <a:ext cx="2487168" cy="219456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66666"/>
                </a:solidFill>
                <a:latin typeface="Noto Sans CJK SC" panose="020B0500000000000000" charset="-122"/>
                <a:ea typeface="Noto Sans CJK SC" panose="020B0500000000000000" charset="-122"/>
              </a:rPr>
              <a:t>其他类别：SL / LS / LL</a:t>
            </a:r>
            <a:endParaRPr lang="zh-CN" sz="1050" b="0">
              <a:solidFill>
                <a:srgbClr val="666666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  <p:cxnSp>
        <p:nvCxnSpPr>
          <p:cNvPr id="131" name="Connector 130"/>
          <p:cNvCxnSpPr/>
          <p:nvPr/>
        </p:nvCxnSpPr>
        <p:spPr>
          <a:xfrm>
            <a:off x="9235440" y="2852928"/>
            <a:ext cx="621792" cy="0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9857232" y="2852928"/>
            <a:ext cx="0" cy="690371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9857232" y="3543299"/>
            <a:ext cx="1481328" cy="0"/>
          </a:xfrm>
          <a:prstGeom prst="line">
            <a:avLst/>
          </a:prstGeom>
          <a:ln w="20955">
            <a:solidFill>
              <a:srgbClr val="3569A4"/>
            </a:solidFill>
            <a:tailEnd type="triangle" w="sm" len="sm"/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9235440" y="4965192"/>
            <a:ext cx="1463040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10698480" y="3095244"/>
            <a:ext cx="0" cy="1869948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10698480" y="3095244"/>
            <a:ext cx="640080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  <a:tailEnd type="triangle" w="sm" len="sm"/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9235440" y="3081528"/>
            <a:ext cx="374904" cy="0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9610344" y="3081528"/>
            <a:ext cx="0" cy="2125980"/>
          </a:xfrm>
          <a:prstGeom prst="line">
            <a:avLst/>
          </a:prstGeom>
          <a:ln w="20955">
            <a:solidFill>
              <a:srgbClr val="3569A4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9610344" y="5207508"/>
            <a:ext cx="1728216" cy="0"/>
          </a:xfrm>
          <a:prstGeom prst="line">
            <a:avLst/>
          </a:prstGeom>
          <a:ln w="20955">
            <a:solidFill>
              <a:srgbClr val="3569A4"/>
            </a:solidFill>
            <a:tailEnd type="triangle" w="sm" len="sm"/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9235440" y="5312664"/>
            <a:ext cx="1069848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10305288" y="5312664"/>
            <a:ext cx="0" cy="790956"/>
          </a:xfrm>
          <a:prstGeom prst="line">
            <a:avLst/>
          </a:prstGeom>
          <a:ln w="20955">
            <a:solidFill>
              <a:srgbClr val="666666"/>
            </a:solidFill>
            <a:prstDash val="dash"/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10305288" y="6103620"/>
            <a:ext cx="1033272" cy="0"/>
          </a:xfrm>
          <a:prstGeom prst="line">
            <a:avLst/>
          </a:prstGeom>
          <a:ln w="20955">
            <a:solidFill>
              <a:srgbClr val="666666"/>
            </a:solidFill>
            <a:prstDash val="dash"/>
            <a:tailEnd type="triangle" w="sm" len="sm"/>
          </a:ln>
          <a:effectLst/>
        </p:spPr>
      </p:cxnSp>
      <p:sp>
        <p:nvSpPr>
          <p:cNvPr id="143" name="Rectangle 142"/>
          <p:cNvSpPr/>
          <p:nvPr/>
        </p:nvSpPr>
        <p:spPr>
          <a:xfrm>
            <a:off x="7306056" y="1380744"/>
            <a:ext cx="5486" cy="523036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805555" y="7137400"/>
            <a:ext cx="8337550" cy="365760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700" b="0">
                <a:solidFill>
                  <a:srgbClr val="222222"/>
                </a:solidFill>
                <a:latin typeface="Noto Sans CJK SC" panose="020B0500000000000000" charset="-122"/>
                <a:ea typeface="Noto Sans CJK SC" panose="020B0500000000000000" charset="-122"/>
              </a:rPr>
              <a:t>先按请求类别确定 Path 池，再在池内按层动态选路；NPU 与具体 Path 不固定绑定。</a:t>
            </a:r>
            <a:endParaRPr lang="zh-CN" sz="1700" b="0">
              <a:solidFill>
                <a:srgbClr val="222222"/>
              </a:solidFill>
              <a:latin typeface="Noto Sans CJK SC" panose="020B0500000000000000" charset="-122"/>
              <a:ea typeface="Noto Sans CJK SC" panose="020B05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WPS Presentation</Application>
  <PresentationFormat>On-screen Show (4:3)</PresentationFormat>
  <Paragraphs>132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</vt:lpstr>
      <vt:lpstr>Noto Sans CJK SC</vt:lpstr>
      <vt:lpstr>Calibri</vt:lpstr>
      <vt:lpstr>微软雅黑</vt:lpstr>
      <vt:lpstr>Arial Unicode MS</vt:lpstr>
      <vt:lpstr>宋体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Once per layer：动态选择 QoS Path</dc:title>
  <dc:creator/>
  <dc:description>generated using python-pptx</dc:description>
  <dc:subject>按请求类别确定Path池，池内动态选路，NPU与具体Path不固定绑定</dc:subject>
  <cp:lastModifiedBy>chguo</cp:lastModifiedBy>
  <cp:revision>4</cp:revision>
  <dcterms:created xsi:type="dcterms:W3CDTF">2026-09-09T00:30:42Z</dcterms:created>
  <dcterms:modified xsi:type="dcterms:W3CDTF">2026-09-09T00:30:42Z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